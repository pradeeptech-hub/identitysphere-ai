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IdentitySphere AI detects identity sprawl and privileged access abuse across 7 enterprise platforms using AI-driven correlation, behavioral ML, and graph-based attack path analysis. Let me walk you through what we built.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real. Organizations manage thousands of identities across multiple platforms. Each platform has its own privilege model. When a service account gets Domain Admin in AD and S3 FullAccess in AWS, no single team sees the combined risk. These 4 real incidents from the problem statement show exactly why cross-platform visibility matters.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has 8 core capabilities. Cross-platform identity correlation maps the same person across all 7 platforms. The effective privilege calculator traverses nested group inheritance. We run 8 types of risk detectors plus Isolation Forest ML. Attack paths are computed using NetworkX graph algorithms. The AI Copilot generates evidence-based remediation plans.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a 9-stage pipeline. Raw CSV data flows through identity resolution, privilege calculation, 8 rule-based detectors plus Isolation Forest ML, composite scoring, graph-based attack path analysis, blast radius simulation, and AI-powered remediation. Every risk finding is traceable back to the underlying CSV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Isolation Forest for unsupervised behavioral anomaly detection. It trains on 5 features extracted from audit events. The hybrid formula combines rule-based scores at 60% weight with ML anomaly scores at 40%. Four suppression rules reduce false positives for legitimate high-privilege users like on-call personnel.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has 14 admin pages and 5 role-based portals with 27 total routes. Key differentiators: the simplified attack path view lets judges understand attack chains in 5 seconds, the blast radius simulator shows risk reduction from revoking a single role, and the AI Copilot generates evidence-based remediation plans.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8 detectors found 505 risk events. The highest volume findings are MFA gaps at 164 and privilege escalation at 110. The alert consolidation engine clusters these into 60 actionable incidents — a 90.1% reduction, exceeding the 40% target by over 2x.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demo scenario. An attacker compromises an Okta account, moves laterally to AD and AWS, escalates to Domain Admin, and reaches the domain controller. IdentitySphere detects this in real-time, the AI Copilot explains the risk with MITRE mapping, and generates platform-specific remediation. Blast radius drops 71% after remediation.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us stand out: end-to-end cross-platform correlation across 7 platforms, effective privilege calculation with nested group traversal, unsupervised ML that needs no labeled data, graph-based attack paths, what-if blast radius simulation, AI remediation, 90% alert reduction, and full compliance mapping. No existing tool combines all of these.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5 success criteria from the problem statement are met. Identity coverage is 100%, alert consolidation achieves 90.1% — more than double the 40% target. All 7 deliverables are complete. The platform runs the full pipeline in about 16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finding auto-maps to compliance frameworks. The compliance center has 9 capabilities mapped across NIST, MITRE, GDPR, and CIS Controls. This means audit teams can trace any finding directly to the relevant compliance control.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IdentitySphere AI addresses every requirement in the problem statement. 370 identities analyzed across 7 platforms, 505 risks detected with 90.1% alert reduction. All success criteria met, all deliverables complete, all compliance frameworks mapped. It transforms fragmented identity data into actionable security intelligence.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Rectangle 1"/>
          <p:cNvSpPr/>
          <p:nvPr/>
        </p:nvSpPr>
        <p:spPr>
          <a:xfrm>
            <a:off x="1371600" y="1828800"/>
            <a:ext cx="27432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144000" cy="914400"/>
          </a:xfrm>
          <a:prstGeom prst="rect">
            <a:avLst/>
          </a:prstGeom>
          <a:noFill/>
        </p:spPr>
        <p:txBody>
          <a:bodyPr wrap="square">
            <a:spAutoFit/>
          </a:bodyPr>
          <a:lstStyle/>
          <a:p>
            <a:pPr algn="l">
              <a:defRPr sz="4400" b="1">
                <a:solidFill>
                  <a:srgbClr val="FFFFFF"/>
                </a:solidFill>
                <a:latin typeface="Calibri"/>
              </a:defRPr>
            </a:pPr>
            <a:r>
              <a:t>IdentitySphere AI</a:t>
            </a:r>
          </a:p>
        </p:txBody>
      </p:sp>
      <p:sp>
        <p:nvSpPr>
          <p:cNvPr id="4" name="TextBox 3"/>
          <p:cNvSpPr txBox="1"/>
          <p:nvPr/>
        </p:nvSpPr>
        <p:spPr>
          <a:xfrm>
            <a:off x="1371600" y="3017520"/>
            <a:ext cx="9144000" cy="457200"/>
          </a:xfrm>
          <a:prstGeom prst="rect">
            <a:avLst/>
          </a:prstGeom>
          <a:noFill/>
        </p:spPr>
        <p:txBody>
          <a:bodyPr wrap="square">
            <a:spAutoFit/>
          </a:bodyPr>
          <a:lstStyle/>
          <a:p>
            <a:pPr algn="l">
              <a:defRPr sz="2200" b="1">
                <a:solidFill>
                  <a:srgbClr val="E31937"/>
                </a:solidFill>
                <a:latin typeface="Calibri"/>
              </a:defRPr>
            </a:pPr>
            <a:r>
              <a:t>Identity Sprawl &amp; Privileged Access Abuse Detection</a:t>
            </a:r>
          </a:p>
        </p:txBody>
      </p:sp>
      <p:sp>
        <p:nvSpPr>
          <p:cNvPr id="5" name="TextBox 4"/>
          <p:cNvSpPr txBox="1"/>
          <p:nvPr/>
        </p:nvSpPr>
        <p:spPr>
          <a:xfrm>
            <a:off x="1371600" y="3749039"/>
            <a:ext cx="9144000" cy="365760"/>
          </a:xfrm>
          <a:prstGeom prst="rect">
            <a:avLst/>
          </a:prstGeom>
          <a:noFill/>
        </p:spPr>
        <p:txBody>
          <a:bodyPr wrap="square">
            <a:spAutoFit/>
          </a:bodyPr>
          <a:lstStyle/>
          <a:p>
            <a:pPr algn="l">
              <a:defRPr sz="1600" b="0">
                <a:solidFill>
                  <a:srgbClr val="8B949E"/>
                </a:solidFill>
                <a:latin typeface="Calibri"/>
              </a:defRPr>
            </a:pPr>
            <a:r>
              <a:t>AI-Powered Cross-Platform Identity Intelligence Platform</a:t>
            </a:r>
          </a:p>
        </p:txBody>
      </p:sp>
      <p:sp>
        <p:nvSpPr>
          <p:cNvPr id="6" name="TextBox 5"/>
          <p:cNvSpPr txBox="1"/>
          <p:nvPr/>
        </p:nvSpPr>
        <p:spPr>
          <a:xfrm>
            <a:off x="1371600" y="5029200"/>
            <a:ext cx="5486400" cy="274320"/>
          </a:xfrm>
          <a:prstGeom prst="rect">
            <a:avLst/>
          </a:prstGeom>
          <a:noFill/>
        </p:spPr>
        <p:txBody>
          <a:bodyPr wrap="square">
            <a:spAutoFit/>
          </a:bodyPr>
          <a:lstStyle/>
          <a:p>
            <a:pPr algn="l">
              <a:defRPr sz="1300" b="0">
                <a:solidFill>
                  <a:srgbClr val="8B949E"/>
                </a:solidFill>
                <a:latin typeface="Calibri"/>
              </a:defRPr>
            </a:pPr>
            <a:r>
              <a:t>Societe Generale GSC Hackathon 2026  |  Team: Pradeep M</a:t>
            </a:r>
          </a:p>
        </p:txBody>
      </p:sp>
      <p:sp>
        <p:nvSpPr>
          <p:cNvPr id="7" name="TextBox 6"/>
          <p:cNvSpPr txBox="1"/>
          <p:nvPr/>
        </p:nvSpPr>
        <p:spPr>
          <a:xfrm>
            <a:off x="1371600" y="5394960"/>
            <a:ext cx="5486400" cy="274320"/>
          </a:xfrm>
          <a:prstGeom prst="rect">
            <a:avLst/>
          </a:prstGeom>
          <a:noFill/>
        </p:spPr>
        <p:txBody>
          <a:bodyPr wrap="square">
            <a:spAutoFit/>
          </a:bodyPr>
          <a:lstStyle/>
          <a:p>
            <a:pPr algn="l">
              <a:defRPr sz="1200" b="0">
                <a:solidFill>
                  <a:srgbClr val="8B949E"/>
                </a:solidFill>
                <a:latin typeface="Calibri"/>
              </a:defRPr>
            </a:pPr>
            <a:r>
              <a:t>Track: Identity &amp; Access Risk Governance  |  Difficulty: Intermediate–Advanced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TextBox 1"/>
          <p:cNvSpPr txBox="1"/>
          <p:nvPr/>
        </p:nvSpPr>
        <p:spPr>
          <a:xfrm>
            <a:off x="731520" y="365760"/>
            <a:ext cx="5486400" cy="457200"/>
          </a:xfrm>
          <a:prstGeom prst="rect">
            <a:avLst/>
          </a:prstGeom>
          <a:noFill/>
        </p:spPr>
        <p:txBody>
          <a:bodyPr wrap="square">
            <a:spAutoFit/>
          </a:bodyPr>
          <a:lstStyle/>
          <a:p>
            <a:pPr algn="l">
              <a:defRPr sz="3200" b="1">
                <a:solidFill>
                  <a:srgbClr val="FFFFFF"/>
                </a:solidFill>
                <a:latin typeface="Calibri"/>
              </a:defRPr>
            </a:pPr>
            <a:r>
              <a:t>The Problem</a:t>
            </a:r>
          </a:p>
        </p:txBody>
      </p:sp>
      <p:sp>
        <p:nvSpPr>
          <p:cNvPr id="3" name="Rectangle 2"/>
          <p:cNvSpPr/>
          <p:nvPr/>
        </p:nvSpPr>
        <p:spPr>
          <a:xfrm>
            <a:off x="731520" y="822960"/>
            <a:ext cx="18288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10058400" cy="365760"/>
          </a:xfrm>
          <a:prstGeom prst="rect">
            <a:avLst/>
          </a:prstGeom>
          <a:noFill/>
        </p:spPr>
        <p:txBody>
          <a:bodyPr wrap="square">
            <a:spAutoFit/>
          </a:bodyPr>
          <a:lstStyle/>
          <a:p>
            <a:pPr algn="l">
              <a:defRPr sz="1500" b="1">
                <a:solidFill>
                  <a:srgbClr val="E31937"/>
                </a:solidFill>
                <a:latin typeface="Calibri"/>
              </a:defRPr>
            </a:pPr>
            <a:r>
              <a:t>Identity sprawl allows attackers to move laterally without malware</a:t>
            </a:r>
          </a:p>
        </p:txBody>
      </p:sp>
      <p:sp>
        <p:nvSpPr>
          <p:cNvPr id="5" name="TextBox 4"/>
          <p:cNvSpPr txBox="1"/>
          <p:nvPr/>
        </p:nvSpPr>
        <p:spPr>
          <a:xfrm>
            <a:off x="731520" y="1463040"/>
            <a:ext cx="5029200" cy="2743200"/>
          </a:xfrm>
          <a:prstGeom prst="rect">
            <a:avLst/>
          </a:prstGeom>
          <a:noFill/>
        </p:spPr>
        <p:txBody>
          <a:bodyPr wrap="square">
            <a:spAutoFit/>
          </a:bodyPr>
          <a:lstStyle/>
          <a:p>
            <a:pPr>
              <a:spcBef>
                <a:spcPts val="300"/>
              </a:spcBef>
              <a:defRPr sz="1300">
                <a:solidFill>
                  <a:srgbClr val="8B949E"/>
                </a:solidFill>
                <a:latin typeface="Calibri"/>
              </a:defRPr>
            </a:pPr>
            <a:r>
              <a:t>▸  5,000+ identities scattered across AD, AWS, Azure AD, Okta, Salesforce, ServiceNow</a:t>
            </a:r>
          </a:p>
          <a:p>
            <a:pPr>
              <a:spcBef>
                <a:spcPts val="300"/>
              </a:spcBef>
              <a:defRPr sz="1300">
                <a:solidFill>
                  <a:srgbClr val="8B949E"/>
                </a:solidFill>
                <a:latin typeface="Calibri"/>
              </a:defRPr>
            </a:pPr>
            <a:r>
              <a:t>▸  No single team sees the full cross-platform picture</a:t>
            </a:r>
          </a:p>
          <a:p>
            <a:pPr>
              <a:spcBef>
                <a:spcPts val="300"/>
              </a:spcBef>
              <a:defRPr sz="1300">
                <a:solidFill>
                  <a:srgbClr val="8B949E"/>
                </a:solidFill>
                <a:latin typeface="Calibri"/>
              </a:defRPr>
            </a:pPr>
            <a:r>
              <a:t>▸  Over-privileged roles persist — effective privilege is hard to compute</a:t>
            </a:r>
          </a:p>
          <a:p>
            <a:pPr>
              <a:spcBef>
                <a:spcPts val="300"/>
              </a:spcBef>
              <a:defRPr sz="1300">
                <a:solidFill>
                  <a:srgbClr val="8B949E"/>
                </a:solidFill>
                <a:latin typeface="Calibri"/>
              </a:defRPr>
            </a:pPr>
            <a:r>
              <a:t>▸  Orphaned accounts remain active months after termination</a:t>
            </a:r>
          </a:p>
          <a:p>
            <a:pPr>
              <a:spcBef>
                <a:spcPts val="300"/>
              </a:spcBef>
              <a:defRPr sz="1300">
                <a:solidFill>
                  <a:srgbClr val="8B949E"/>
                </a:solidFill>
                <a:latin typeface="Calibri"/>
              </a:defRPr>
            </a:pPr>
            <a:r>
              <a:t>▸  Alert fatigue from noisy findings masks real abuse patterns</a:t>
            </a:r>
          </a:p>
        </p:txBody>
      </p:sp>
      <p:sp>
        <p:nvSpPr>
          <p:cNvPr id="6" name="TextBox 5"/>
          <p:cNvSpPr txBox="1"/>
          <p:nvPr/>
        </p:nvSpPr>
        <p:spPr>
          <a:xfrm>
            <a:off x="6583680" y="1005840"/>
            <a:ext cx="5029200" cy="365760"/>
          </a:xfrm>
          <a:prstGeom prst="rect">
            <a:avLst/>
          </a:prstGeom>
          <a:noFill/>
        </p:spPr>
        <p:txBody>
          <a:bodyPr wrap="square">
            <a:spAutoFit/>
          </a:bodyPr>
          <a:lstStyle/>
          <a:p>
            <a:pPr algn="l">
              <a:defRPr sz="1600" b="1">
                <a:solidFill>
                  <a:srgbClr val="FFFFFF"/>
                </a:solidFill>
                <a:latin typeface="Calibri"/>
              </a:defRPr>
            </a:pPr>
            <a:r>
              <a:t>Real Incidents from Problem Statement</a:t>
            </a:r>
          </a:p>
        </p:txBody>
      </p:sp>
      <p:sp>
        <p:nvSpPr>
          <p:cNvPr id="7" name="TextBox 6"/>
          <p:cNvSpPr txBox="1"/>
          <p:nvPr/>
        </p:nvSpPr>
        <p:spPr>
          <a:xfrm>
            <a:off x="6583680" y="1463040"/>
            <a:ext cx="5029200" cy="2743200"/>
          </a:xfrm>
          <a:prstGeom prst="rect">
            <a:avLst/>
          </a:prstGeom>
          <a:noFill/>
        </p:spPr>
        <p:txBody>
          <a:bodyPr wrap="square">
            <a:spAutoFit/>
          </a:bodyPr>
          <a:lstStyle/>
          <a:p>
            <a:pPr>
              <a:spcBef>
                <a:spcPts val="300"/>
              </a:spcBef>
              <a:defRPr sz="1200">
                <a:solidFill>
                  <a:srgbClr val="8B949E"/>
                </a:solidFill>
                <a:latin typeface="Calibri"/>
              </a:defRPr>
            </a:pPr>
            <a:r>
              <a:t>▸  Contractor AD disabled → Okta + AWS active 4 months → S3 data exfiltrated</a:t>
            </a:r>
          </a:p>
          <a:p>
            <a:pPr>
              <a:spcBef>
                <a:spcPts val="300"/>
              </a:spcBef>
              <a:defRPr sz="1200">
                <a:solidFill>
                  <a:srgbClr val="8B949E"/>
                </a:solidFill>
                <a:latin typeface="Calibri"/>
              </a:defRPr>
            </a:pPr>
            <a:r>
              <a:t>▸  svc-etl-prod read-only in AD → inherited Global Admin via nested Azure AD group</a:t>
            </a:r>
          </a:p>
          <a:p>
            <a:pPr>
              <a:spcBef>
                <a:spcPts val="300"/>
              </a:spcBef>
              <a:defRPr sz="1200">
                <a:solidFill>
                  <a:srgbClr val="8B949E"/>
                </a:solidFill>
                <a:latin typeface="Calibri"/>
              </a:defRPr>
            </a:pPr>
            <a:r>
              <a:t>▸  Developer API token never rotated → SaaS breach exposed production Salesforce</a:t>
            </a:r>
          </a:p>
          <a:p>
            <a:pPr>
              <a:spcBef>
                <a:spcPts val="300"/>
              </a:spcBef>
              <a:defRPr sz="1200">
                <a:solidFill>
                  <a:srgbClr val="8B949E"/>
                </a:solidFill>
                <a:latin typeface="Calibri"/>
              </a:defRPr>
            </a:pPr>
            <a:r>
              <a:t>▸  On-call engineer temp admin on AD+AWS+Okta → privileges never revoked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TextBox 1"/>
          <p:cNvSpPr txBox="1"/>
          <p:nvPr/>
        </p:nvSpPr>
        <p:spPr>
          <a:xfrm>
            <a:off x="731520" y="365760"/>
            <a:ext cx="9144000" cy="457200"/>
          </a:xfrm>
          <a:prstGeom prst="rect">
            <a:avLst/>
          </a:prstGeom>
          <a:noFill/>
        </p:spPr>
        <p:txBody>
          <a:bodyPr wrap="square">
            <a:spAutoFit/>
          </a:bodyPr>
          <a:lstStyle/>
          <a:p>
            <a:pPr algn="l">
              <a:defRPr sz="3200" b="1">
                <a:solidFill>
                  <a:srgbClr val="FFFFFF"/>
                </a:solidFill>
                <a:latin typeface="Calibri"/>
              </a:defRPr>
            </a:pPr>
            <a:r>
              <a:t>Our Solution</a:t>
            </a:r>
          </a:p>
        </p:txBody>
      </p:sp>
      <p:sp>
        <p:nvSpPr>
          <p:cNvPr id="3" name="Rectangle 2"/>
          <p:cNvSpPr/>
          <p:nvPr/>
        </p:nvSpPr>
        <p:spPr>
          <a:xfrm>
            <a:off x="731520" y="822960"/>
            <a:ext cx="18288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9144000" cy="365760"/>
          </a:xfrm>
          <a:prstGeom prst="rect">
            <a:avLst/>
          </a:prstGeom>
          <a:noFill/>
        </p:spPr>
        <p:txBody>
          <a:bodyPr wrap="square">
            <a:spAutoFit/>
          </a:bodyPr>
          <a:lstStyle/>
          <a:p>
            <a:pPr algn="l">
              <a:defRPr sz="1600" b="0">
                <a:solidFill>
                  <a:srgbClr val="E31937"/>
                </a:solidFill>
                <a:latin typeface="Calibri"/>
              </a:defRPr>
            </a:pPr>
            <a:r>
              <a:t>IdentitySphere AI — 8 core capabilities</a:t>
            </a:r>
          </a:p>
        </p:txBody>
      </p:sp>
      <p:sp>
        <p:nvSpPr>
          <p:cNvPr id="5" name="Rounded Rectangle 4"/>
          <p:cNvSpPr/>
          <p:nvPr/>
        </p:nvSpPr>
        <p:spPr>
          <a:xfrm>
            <a:off x="731520" y="1554480"/>
            <a:ext cx="2560320" cy="2103120"/>
          </a:xfrm>
          <a:prstGeom prst="roundRect">
            <a:avLst/>
          </a:prstGeom>
          <a:solidFill>
            <a:srgbClr val="0D11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r>
              <a:t>🔗</a:t>
            </a:r>
          </a:p>
          <a:p>
            <a:pPr algn="ctr">
              <a:defRPr sz="1400" b="1">
                <a:solidFill>
                  <a:srgbClr val="3B82F6"/>
                </a:solidFill>
                <a:latin typeface="Calibri"/>
              </a:defRPr>
            </a:pPr>
            <a:r>
              <a:t>Cross-Platform</a:t>
            </a:r>
            <a:br/>
            <a:r>
              <a:t>Identity Correlation</a:t>
            </a:r>
          </a:p>
          <a:p>
            <a:pPr algn="ctr">
              <a:defRPr sz="1000" b="0">
                <a:solidFill>
                  <a:srgbClr val="8B949E"/>
                </a:solidFill>
                <a:latin typeface="Calibri"/>
              </a:defRPr>
            </a:pPr>
            <a:r>
              <a:t>Maps same person across 7 platforms</a:t>
            </a:r>
          </a:p>
        </p:txBody>
      </p:sp>
      <p:sp>
        <p:nvSpPr>
          <p:cNvPr id="6" name="Rounded Rectangle 5"/>
          <p:cNvSpPr/>
          <p:nvPr/>
        </p:nvSpPr>
        <p:spPr>
          <a:xfrm>
            <a:off x="3566160" y="1554480"/>
            <a:ext cx="2560320" cy="2103120"/>
          </a:xfrm>
          <a:prstGeom prst="roundRect">
            <a:avLst/>
          </a:prstGeom>
          <a:solidFill>
            <a:srgbClr val="0D11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r>
              <a:t>🔐</a:t>
            </a:r>
          </a:p>
          <a:p>
            <a:pPr algn="ctr">
              <a:defRPr sz="1400" b="1">
                <a:solidFill>
                  <a:srgbClr val="F97316"/>
                </a:solidFill>
                <a:latin typeface="Calibri"/>
              </a:defRPr>
            </a:pPr>
            <a:r>
              <a:t>Effective Privilege</a:t>
            </a:r>
            <a:br/>
            <a:r>
              <a:t>Calculator</a:t>
            </a:r>
          </a:p>
          <a:p>
            <a:pPr algn="ctr">
              <a:defRPr sz="1000" b="0">
                <a:solidFill>
                  <a:srgbClr val="8B949E"/>
                </a:solidFill>
                <a:latin typeface="Calibri"/>
              </a:defRPr>
            </a:pPr>
            <a:r>
              <a:t>Nested group inheritance traversal</a:t>
            </a:r>
          </a:p>
        </p:txBody>
      </p:sp>
      <p:sp>
        <p:nvSpPr>
          <p:cNvPr id="7" name="Rounded Rectangle 6"/>
          <p:cNvSpPr/>
          <p:nvPr/>
        </p:nvSpPr>
        <p:spPr>
          <a:xfrm>
            <a:off x="6400800" y="1554480"/>
            <a:ext cx="2560320" cy="2103120"/>
          </a:xfrm>
          <a:prstGeom prst="roundRect">
            <a:avLst/>
          </a:prstGeom>
          <a:solidFill>
            <a:srgbClr val="0D111A"/>
          </a:solidFill>
          <a:ln w="1905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r>
              <a:t>🎯</a:t>
            </a:r>
          </a:p>
          <a:p>
            <a:pPr algn="ctr">
              <a:defRPr sz="1400" b="1">
                <a:solidFill>
                  <a:srgbClr val="E31937"/>
                </a:solidFill>
                <a:latin typeface="Calibri"/>
              </a:defRPr>
            </a:pPr>
            <a:r>
              <a:t>8-Type Risk</a:t>
            </a:r>
            <a:br/>
            <a:r>
              <a:t>Detection Engine</a:t>
            </a:r>
          </a:p>
          <a:p>
            <a:pPr algn="ctr">
              <a:defRPr sz="1000" b="0">
                <a:solidFill>
                  <a:srgbClr val="8B949E"/>
                </a:solidFill>
                <a:latin typeface="Calibri"/>
              </a:defRPr>
            </a:pPr>
            <a:r>
              <a:t>Rule-based + ML hybrid detection</a:t>
            </a:r>
          </a:p>
        </p:txBody>
      </p:sp>
      <p:sp>
        <p:nvSpPr>
          <p:cNvPr id="8" name="Rounded Rectangle 7"/>
          <p:cNvSpPr/>
          <p:nvPr/>
        </p:nvSpPr>
        <p:spPr>
          <a:xfrm>
            <a:off x="9235440" y="1554480"/>
            <a:ext cx="2560320" cy="2103120"/>
          </a:xfrm>
          <a:prstGeom prst="roundRect">
            <a:avLst/>
          </a:prstGeom>
          <a:solidFill>
            <a:srgbClr val="0D11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r>
              <a:t>🧠</a:t>
            </a:r>
          </a:p>
          <a:p>
            <a:pPr algn="ctr">
              <a:defRPr sz="1400" b="1">
                <a:solidFill>
                  <a:srgbClr val="22C55E"/>
                </a:solidFill>
                <a:latin typeface="Calibri"/>
              </a:defRPr>
            </a:pPr>
            <a:r>
              <a:t>Isolation Forest</a:t>
            </a:r>
            <a:br/>
            <a:r>
              <a:t>Behavioral ML</a:t>
            </a:r>
          </a:p>
          <a:p>
            <a:pPr algn="ctr">
              <a:defRPr sz="1000" b="0">
                <a:solidFill>
                  <a:srgbClr val="8B949E"/>
                </a:solidFill>
                <a:latin typeface="Calibri"/>
              </a:defRPr>
            </a:pPr>
            <a:r>
              <a:t>5-feature unsupervised anomaly detection</a:t>
            </a:r>
          </a:p>
        </p:txBody>
      </p:sp>
      <p:sp>
        <p:nvSpPr>
          <p:cNvPr id="9" name="Rounded Rectangle 8"/>
          <p:cNvSpPr/>
          <p:nvPr/>
        </p:nvSpPr>
        <p:spPr>
          <a:xfrm>
            <a:off x="731520" y="4023360"/>
            <a:ext cx="2560320" cy="2103120"/>
          </a:xfrm>
          <a:prstGeom prst="roundRect">
            <a:avLst/>
          </a:prstGeom>
          <a:solidFill>
            <a:srgbClr val="0D11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r>
              <a:t>🗺️</a:t>
            </a:r>
          </a:p>
          <a:p>
            <a:pPr algn="ctr">
              <a:defRPr sz="1400" b="1">
                <a:solidFill>
                  <a:srgbClr val="F97316"/>
                </a:solidFill>
                <a:latin typeface="Calibri"/>
              </a:defRPr>
            </a:pPr>
            <a:r>
              <a:t>Attack Path</a:t>
            </a:r>
            <a:br/>
            <a:r>
              <a:t>Analysis</a:t>
            </a:r>
          </a:p>
          <a:p>
            <a:pPr algn="ctr">
              <a:defRPr sz="1000" b="0">
                <a:solidFill>
                  <a:srgbClr val="8B949E"/>
                </a:solidFill>
                <a:latin typeface="Calibri"/>
              </a:defRPr>
            </a:pPr>
            <a:r>
              <a:t>Graph-based lateral movement paths</a:t>
            </a:r>
          </a:p>
        </p:txBody>
      </p:sp>
      <p:sp>
        <p:nvSpPr>
          <p:cNvPr id="10" name="Rounded Rectangle 9"/>
          <p:cNvSpPr/>
          <p:nvPr/>
        </p:nvSpPr>
        <p:spPr>
          <a:xfrm>
            <a:off x="3566160" y="4023360"/>
            <a:ext cx="2560320" cy="2103120"/>
          </a:xfrm>
          <a:prstGeom prst="roundRect">
            <a:avLst/>
          </a:prstGeom>
          <a:solidFill>
            <a:srgbClr val="0D111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r>
              <a:t>💥</a:t>
            </a:r>
          </a:p>
          <a:p>
            <a:pPr algn="ctr">
              <a:defRPr sz="1400" b="1">
                <a:solidFill>
                  <a:srgbClr val="EAB308"/>
                </a:solidFill>
                <a:latin typeface="Calibri"/>
              </a:defRPr>
            </a:pPr>
            <a:r>
              <a:t>Blast Radius</a:t>
            </a:r>
            <a:br/>
            <a:r>
              <a:t>Simulation</a:t>
            </a:r>
          </a:p>
          <a:p>
            <a:pPr algn="ctr">
              <a:defRPr sz="1000" b="0">
                <a:solidFill>
                  <a:srgbClr val="8B949E"/>
                </a:solidFill>
                <a:latin typeface="Calibri"/>
              </a:defRPr>
            </a:pPr>
            <a:r>
              <a:t>What-if: revoke role → measure impact</a:t>
            </a:r>
          </a:p>
        </p:txBody>
      </p:sp>
      <p:sp>
        <p:nvSpPr>
          <p:cNvPr id="11" name="Rounded Rectangle 10"/>
          <p:cNvSpPr/>
          <p:nvPr/>
        </p:nvSpPr>
        <p:spPr>
          <a:xfrm>
            <a:off x="6400800" y="4023360"/>
            <a:ext cx="2560320" cy="2103120"/>
          </a:xfrm>
          <a:prstGeom prst="roundRect">
            <a:avLst/>
          </a:prstGeom>
          <a:solidFill>
            <a:srgbClr val="0D11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r>
              <a:t>🤖</a:t>
            </a:r>
          </a:p>
          <a:p>
            <a:pPr algn="ctr">
              <a:defRPr sz="1400" b="1">
                <a:solidFill>
                  <a:srgbClr val="3B82F6"/>
                </a:solidFill>
                <a:latin typeface="Calibri"/>
              </a:defRPr>
            </a:pPr>
            <a:r>
              <a:t>AI Security</a:t>
            </a:r>
            <a:br/>
            <a:r>
              <a:t>Copilot</a:t>
            </a:r>
          </a:p>
          <a:p>
            <a:pPr algn="ctr">
              <a:defRPr sz="1000" b="0">
                <a:solidFill>
                  <a:srgbClr val="8B949E"/>
                </a:solidFill>
                <a:latin typeface="Calibri"/>
              </a:defRPr>
            </a:pPr>
            <a:r>
              <a:t>Evidence-based remediation guidance</a:t>
            </a:r>
          </a:p>
        </p:txBody>
      </p:sp>
      <p:sp>
        <p:nvSpPr>
          <p:cNvPr id="12" name="Rounded Rectangle 11"/>
          <p:cNvSpPr/>
          <p:nvPr/>
        </p:nvSpPr>
        <p:spPr>
          <a:xfrm>
            <a:off x="9235440" y="4023360"/>
            <a:ext cx="2560320" cy="2103120"/>
          </a:xfrm>
          <a:prstGeom prst="roundRect">
            <a:avLst/>
          </a:prstGeom>
          <a:solidFill>
            <a:srgbClr val="0D11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r>
              <a:t>📋</a:t>
            </a:r>
          </a:p>
          <a:p>
            <a:pPr algn="ctr">
              <a:defRPr sz="1400" b="1">
                <a:solidFill>
                  <a:srgbClr val="22C55E"/>
                </a:solidFill>
                <a:latin typeface="Calibri"/>
              </a:defRPr>
            </a:pPr>
            <a:r>
              <a:t>Compliance</a:t>
            </a:r>
            <a:br/>
            <a:r>
              <a:t>Engine</a:t>
            </a:r>
          </a:p>
          <a:p>
            <a:pPr algn="ctr">
              <a:defRPr sz="1000" b="0">
                <a:solidFill>
                  <a:srgbClr val="8B949E"/>
                </a:solidFill>
                <a:latin typeface="Calibri"/>
              </a:defRPr>
            </a:pPr>
            <a:r>
              <a:t>NIST · MITRE · GDPR · CIS auto-mapping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TextBox 1"/>
          <p:cNvSpPr txBox="1"/>
          <p:nvPr/>
        </p:nvSpPr>
        <p:spPr>
          <a:xfrm>
            <a:off x="731520" y="365760"/>
            <a:ext cx="9144000" cy="457200"/>
          </a:xfrm>
          <a:prstGeom prst="rect">
            <a:avLst/>
          </a:prstGeom>
          <a:noFill/>
        </p:spPr>
        <p:txBody>
          <a:bodyPr wrap="square">
            <a:spAutoFit/>
          </a:bodyPr>
          <a:lstStyle/>
          <a:p>
            <a:pPr algn="l">
              <a:defRPr sz="3200" b="1">
                <a:solidFill>
                  <a:srgbClr val="FFFFFF"/>
                </a:solidFill>
                <a:latin typeface="Calibri"/>
              </a:defRPr>
            </a:pPr>
            <a:r>
              <a:t>System Architecture</a:t>
            </a:r>
          </a:p>
        </p:txBody>
      </p:sp>
      <p:sp>
        <p:nvSpPr>
          <p:cNvPr id="3" name="Rectangle 2"/>
          <p:cNvSpPr/>
          <p:nvPr/>
        </p:nvSpPr>
        <p:spPr>
          <a:xfrm>
            <a:off x="731520" y="822960"/>
            <a:ext cx="18288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9144000" cy="274320"/>
          </a:xfrm>
          <a:prstGeom prst="rect">
            <a:avLst/>
          </a:prstGeom>
          <a:noFill/>
        </p:spPr>
        <p:txBody>
          <a:bodyPr wrap="square">
            <a:spAutoFit/>
          </a:bodyPr>
          <a:lstStyle/>
          <a:p>
            <a:pPr algn="l">
              <a:defRPr sz="1400" b="0">
                <a:solidFill>
                  <a:srgbClr val="8B949E"/>
                </a:solidFill>
                <a:latin typeface="Calibri"/>
              </a:defRPr>
            </a:pPr>
            <a:r>
              <a:t>9-stage evidence pipeline — CSV → Correlation → Detection → Remediation</a:t>
            </a:r>
          </a:p>
        </p:txBody>
      </p:sp>
      <p:sp>
        <p:nvSpPr>
          <p:cNvPr id="5" name="Rounded Rectangle 4"/>
          <p:cNvSpPr/>
          <p:nvPr/>
        </p:nvSpPr>
        <p:spPr>
          <a:xfrm>
            <a:off x="457200" y="2011680"/>
            <a:ext cx="1143000" cy="1371600"/>
          </a:xfrm>
          <a:prstGeom prst="roundRect">
            <a:avLst/>
          </a:prstGeom>
          <a:solidFill>
            <a:srgbClr val="0D111A"/>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3B82F6"/>
                </a:solidFill>
                <a:latin typeface="Calibri"/>
              </a:defRPr>
            </a:pPr>
            <a:r>
              <a:t>Data Sources</a:t>
            </a:r>
            <a:br/>
            <a:r>
              <a:t>(CSV/JSON)</a:t>
            </a:r>
          </a:p>
        </p:txBody>
      </p:sp>
      <p:sp>
        <p:nvSpPr>
          <p:cNvPr id="6" name="Right Arrow 5"/>
          <p:cNvSpPr/>
          <p:nvPr/>
        </p:nvSpPr>
        <p:spPr>
          <a:xfrm>
            <a:off x="1618488" y="2560320"/>
            <a:ext cx="182880" cy="228600"/>
          </a:xfrm>
          <a:prstGeom prst="rightArrow">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19072" y="2011680"/>
            <a:ext cx="1143000" cy="1371600"/>
          </a:xfrm>
          <a:prstGeom prst="roundRect">
            <a:avLst/>
          </a:prstGeom>
          <a:solidFill>
            <a:srgbClr val="0D111A"/>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97316"/>
                </a:solidFill>
                <a:latin typeface="Calibri"/>
              </a:defRPr>
            </a:pPr>
            <a:r>
              <a:t>Identity</a:t>
            </a:r>
            <a:br/>
            <a:r>
              <a:t>Resolver</a:t>
            </a:r>
          </a:p>
        </p:txBody>
      </p:sp>
      <p:sp>
        <p:nvSpPr>
          <p:cNvPr id="8" name="Right Arrow 7"/>
          <p:cNvSpPr/>
          <p:nvPr/>
        </p:nvSpPr>
        <p:spPr>
          <a:xfrm>
            <a:off x="2880360" y="2560320"/>
            <a:ext cx="182880" cy="228600"/>
          </a:xfrm>
          <a:prstGeom prst="rightArrow">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80944" y="2011680"/>
            <a:ext cx="1143000" cy="1371600"/>
          </a:xfrm>
          <a:prstGeom prst="roundRect">
            <a:avLst/>
          </a:prstGeom>
          <a:solidFill>
            <a:srgbClr val="0D111A"/>
          </a:solidFill>
          <a:ln w="2540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EAB308"/>
                </a:solidFill>
                <a:latin typeface="Calibri"/>
              </a:defRPr>
            </a:pPr>
            <a:r>
              <a:t>Privilege</a:t>
            </a:r>
            <a:br/>
            <a:r>
              <a:t>Calculator</a:t>
            </a:r>
          </a:p>
        </p:txBody>
      </p:sp>
      <p:sp>
        <p:nvSpPr>
          <p:cNvPr id="10" name="Right Arrow 9"/>
          <p:cNvSpPr/>
          <p:nvPr/>
        </p:nvSpPr>
        <p:spPr>
          <a:xfrm>
            <a:off x="4142231" y="2560320"/>
            <a:ext cx="182880" cy="228600"/>
          </a:xfrm>
          <a:prstGeom prst="rightArrow">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42816" y="2011680"/>
            <a:ext cx="1143000" cy="1371600"/>
          </a:xfrm>
          <a:prstGeom prst="roundRect">
            <a:avLst/>
          </a:prstGeom>
          <a:solidFill>
            <a:srgbClr val="0D111A"/>
          </a:solidFill>
          <a:ln w="2540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E31937"/>
                </a:solidFill>
                <a:latin typeface="Calibri"/>
              </a:defRPr>
            </a:pPr>
            <a:r>
              <a:t>Risk Detection</a:t>
            </a:r>
            <a:br/>
            <a:r>
              <a:t>(8 types)</a:t>
            </a:r>
          </a:p>
        </p:txBody>
      </p:sp>
      <p:sp>
        <p:nvSpPr>
          <p:cNvPr id="12" name="Right Arrow 11"/>
          <p:cNvSpPr/>
          <p:nvPr/>
        </p:nvSpPr>
        <p:spPr>
          <a:xfrm>
            <a:off x="5404104" y="2560320"/>
            <a:ext cx="182880" cy="228600"/>
          </a:xfrm>
          <a:prstGeom prst="rightArrow">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04688" y="2011680"/>
            <a:ext cx="1143000" cy="1371600"/>
          </a:xfrm>
          <a:prstGeom prst="roundRect">
            <a:avLst/>
          </a:prstGeom>
          <a:solidFill>
            <a:srgbClr val="0D111A"/>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22C55E"/>
                </a:solidFill>
                <a:latin typeface="Calibri"/>
              </a:defRPr>
            </a:pPr>
            <a:r>
              <a:t>Isolation Forest</a:t>
            </a:r>
            <a:br/>
            <a:r>
              <a:t>ML</a:t>
            </a:r>
          </a:p>
        </p:txBody>
      </p:sp>
      <p:sp>
        <p:nvSpPr>
          <p:cNvPr id="14" name="Right Arrow 13"/>
          <p:cNvSpPr/>
          <p:nvPr/>
        </p:nvSpPr>
        <p:spPr>
          <a:xfrm>
            <a:off x="6665975" y="2560320"/>
            <a:ext cx="182880" cy="228600"/>
          </a:xfrm>
          <a:prstGeom prst="rightArrow">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59" y="2011680"/>
            <a:ext cx="1143000" cy="1371600"/>
          </a:xfrm>
          <a:prstGeom prst="roundRect">
            <a:avLst/>
          </a:prstGeom>
          <a:solidFill>
            <a:srgbClr val="0D111A"/>
          </a:solidFill>
          <a:ln w="2540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E31937"/>
                </a:solidFill>
                <a:latin typeface="Calibri"/>
              </a:defRPr>
            </a:pPr>
            <a:r>
              <a:t>Risk</a:t>
            </a:r>
            <a:br/>
            <a:r>
              <a:t>Scoring</a:t>
            </a:r>
          </a:p>
        </p:txBody>
      </p:sp>
      <p:sp>
        <p:nvSpPr>
          <p:cNvPr id="16" name="Right Arrow 15"/>
          <p:cNvSpPr/>
          <p:nvPr/>
        </p:nvSpPr>
        <p:spPr>
          <a:xfrm>
            <a:off x="7927848" y="2560320"/>
            <a:ext cx="182880" cy="228600"/>
          </a:xfrm>
          <a:prstGeom prst="rightArrow">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28431" y="2011680"/>
            <a:ext cx="1143000" cy="1371600"/>
          </a:xfrm>
          <a:prstGeom prst="roundRect">
            <a:avLst/>
          </a:prstGeom>
          <a:solidFill>
            <a:srgbClr val="0D111A"/>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97316"/>
                </a:solidFill>
                <a:latin typeface="Calibri"/>
              </a:defRPr>
            </a:pPr>
            <a:r>
              <a:t>Attack Graph</a:t>
            </a:r>
            <a:br/>
            <a:r>
              <a:t>(NetworkX)</a:t>
            </a:r>
          </a:p>
        </p:txBody>
      </p:sp>
      <p:sp>
        <p:nvSpPr>
          <p:cNvPr id="18" name="Right Arrow 17"/>
          <p:cNvSpPr/>
          <p:nvPr/>
        </p:nvSpPr>
        <p:spPr>
          <a:xfrm>
            <a:off x="9189719" y="2560320"/>
            <a:ext cx="182880" cy="228600"/>
          </a:xfrm>
          <a:prstGeom prst="rightArrow">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90304" y="2011680"/>
            <a:ext cx="1143000" cy="1371600"/>
          </a:xfrm>
          <a:prstGeom prst="roundRect">
            <a:avLst/>
          </a:prstGeom>
          <a:solidFill>
            <a:srgbClr val="0D111A"/>
          </a:solidFill>
          <a:ln w="2540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EAB308"/>
                </a:solidFill>
                <a:latin typeface="Calibri"/>
              </a:defRPr>
            </a:pPr>
            <a:r>
              <a:t>Blast Radius</a:t>
            </a:r>
            <a:br/>
            <a:r>
              <a:t>Simulator</a:t>
            </a:r>
          </a:p>
        </p:txBody>
      </p:sp>
      <p:sp>
        <p:nvSpPr>
          <p:cNvPr id="20" name="Right Arrow 19"/>
          <p:cNvSpPr/>
          <p:nvPr/>
        </p:nvSpPr>
        <p:spPr>
          <a:xfrm>
            <a:off x="10451592" y="2560320"/>
            <a:ext cx="182880" cy="228600"/>
          </a:xfrm>
          <a:prstGeom prst="rightArrow">
            <a:avLst/>
          </a:prstGeom>
          <a:solidFill>
            <a:srgbClr val="8B9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552176" y="2011680"/>
            <a:ext cx="1143000" cy="1371600"/>
          </a:xfrm>
          <a:prstGeom prst="roundRect">
            <a:avLst/>
          </a:prstGeom>
          <a:solidFill>
            <a:srgbClr val="0D111A"/>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22C55E"/>
                </a:solidFill>
                <a:latin typeface="Calibri"/>
              </a:defRPr>
            </a:pPr>
            <a:r>
              <a:t>AI Copilot +</a:t>
            </a:r>
            <a:br/>
            <a:r>
              <a:t>Compliance</a:t>
            </a:r>
          </a:p>
        </p:txBody>
      </p:sp>
      <p:sp>
        <p:nvSpPr>
          <p:cNvPr id="22" name="TextBox 21"/>
          <p:cNvSpPr txBox="1"/>
          <p:nvPr/>
        </p:nvSpPr>
        <p:spPr>
          <a:xfrm>
            <a:off x="731520" y="3840480"/>
            <a:ext cx="10058400" cy="274320"/>
          </a:xfrm>
          <a:prstGeom prst="rect">
            <a:avLst/>
          </a:prstGeom>
          <a:noFill/>
        </p:spPr>
        <p:txBody>
          <a:bodyPr wrap="square">
            <a:spAutoFit/>
          </a:bodyPr>
          <a:lstStyle/>
          <a:p>
            <a:pPr algn="l">
              <a:defRPr sz="1200" b="0">
                <a:solidFill>
                  <a:srgbClr val="E31937"/>
                </a:solidFill>
                <a:latin typeface="Calibri"/>
              </a:defRPr>
            </a:pPr>
            <a:r>
              <a:t>Every finding is traceable: CSV Evidence → Correlation → Privilege → Detection → Score → Attack Path → Remediation</a:t>
            </a:r>
          </a:p>
        </p:txBody>
      </p:sp>
      <p:sp>
        <p:nvSpPr>
          <p:cNvPr id="23" name="TextBox 22"/>
          <p:cNvSpPr txBox="1"/>
          <p:nvPr/>
        </p:nvSpPr>
        <p:spPr>
          <a:xfrm>
            <a:off x="731520" y="4297680"/>
            <a:ext cx="5486400" cy="274320"/>
          </a:xfrm>
          <a:prstGeom prst="rect">
            <a:avLst/>
          </a:prstGeom>
          <a:noFill/>
        </p:spPr>
        <p:txBody>
          <a:bodyPr wrap="square">
            <a:spAutoFit/>
          </a:bodyPr>
          <a:lstStyle/>
          <a:p>
            <a:pPr algn="l">
              <a:defRPr sz="1200" b="0">
                <a:solidFill>
                  <a:srgbClr val="8B949E"/>
                </a:solidFill>
                <a:latin typeface="Calibri"/>
              </a:defRPr>
            </a:pPr>
            <a:r>
              <a:t>Python · FastAPI · React · NetworkX · scikit-learn · Recharts</a:t>
            </a:r>
          </a:p>
        </p:txBody>
      </p:sp>
      <p:sp>
        <p:nvSpPr>
          <p:cNvPr id="24" name="TextBox 23"/>
          <p:cNvSpPr txBox="1"/>
          <p:nvPr/>
        </p:nvSpPr>
        <p:spPr>
          <a:xfrm>
            <a:off x="731520" y="4572000"/>
            <a:ext cx="5486400" cy="274320"/>
          </a:xfrm>
          <a:prstGeom prst="rect">
            <a:avLst/>
          </a:prstGeom>
          <a:noFill/>
        </p:spPr>
        <p:txBody>
          <a:bodyPr wrap="square">
            <a:spAutoFit/>
          </a:bodyPr>
          <a:lstStyle/>
          <a:p>
            <a:pPr algn="l">
              <a:defRPr sz="1200" b="0">
                <a:solidFill>
                  <a:srgbClr val="8B949E"/>
                </a:solidFill>
                <a:latin typeface="Calibri"/>
              </a:defRPr>
            </a:pPr>
            <a:r>
              <a:t>370 identities · 7 platforms · 804 accounts · 800 audit events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TextBox 1"/>
          <p:cNvSpPr txBox="1"/>
          <p:nvPr/>
        </p:nvSpPr>
        <p:spPr>
          <a:xfrm>
            <a:off x="731520" y="365760"/>
            <a:ext cx="9144000" cy="457200"/>
          </a:xfrm>
          <a:prstGeom prst="rect">
            <a:avLst/>
          </a:prstGeom>
          <a:noFill/>
        </p:spPr>
        <p:txBody>
          <a:bodyPr wrap="square">
            <a:spAutoFit/>
          </a:bodyPr>
          <a:lstStyle/>
          <a:p>
            <a:pPr algn="l">
              <a:defRPr sz="3200" b="1">
                <a:solidFill>
                  <a:srgbClr val="FFFFFF"/>
                </a:solidFill>
                <a:latin typeface="Calibri"/>
              </a:defRPr>
            </a:pPr>
            <a:r>
              <a:t>AI &amp; Machine Learning</a:t>
            </a:r>
          </a:p>
        </p:txBody>
      </p:sp>
      <p:sp>
        <p:nvSpPr>
          <p:cNvPr id="3" name="Rectangle 2"/>
          <p:cNvSpPr/>
          <p:nvPr/>
        </p:nvSpPr>
        <p:spPr>
          <a:xfrm>
            <a:off x="731520" y="822960"/>
            <a:ext cx="18288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5486400" cy="365760"/>
          </a:xfrm>
          <a:prstGeom prst="rect">
            <a:avLst/>
          </a:prstGeom>
          <a:noFill/>
        </p:spPr>
        <p:txBody>
          <a:bodyPr wrap="square">
            <a:spAutoFit/>
          </a:bodyPr>
          <a:lstStyle/>
          <a:p>
            <a:pPr algn="l">
              <a:defRPr sz="1800" b="1">
                <a:solidFill>
                  <a:srgbClr val="E31937"/>
                </a:solidFill>
                <a:latin typeface="Calibri"/>
              </a:defRPr>
            </a:pPr>
            <a:r>
              <a:t>Isolation Forest Anomaly Detection</a:t>
            </a:r>
          </a:p>
        </p:txBody>
      </p:sp>
      <p:sp>
        <p:nvSpPr>
          <p:cNvPr id="5" name="TextBox 4"/>
          <p:cNvSpPr txBox="1"/>
          <p:nvPr/>
        </p:nvSpPr>
        <p:spPr>
          <a:xfrm>
            <a:off x="731520" y="1554480"/>
            <a:ext cx="5029200" cy="1828800"/>
          </a:xfrm>
          <a:prstGeom prst="rect">
            <a:avLst/>
          </a:prstGeom>
          <a:noFill/>
        </p:spPr>
        <p:txBody>
          <a:bodyPr wrap="square">
            <a:spAutoFit/>
          </a:bodyPr>
          <a:lstStyle/>
          <a:p>
            <a:pPr>
              <a:spcBef>
                <a:spcPts val="300"/>
              </a:spcBef>
              <a:defRPr sz="1300">
                <a:solidFill>
                  <a:srgbClr val="8B949E"/>
                </a:solidFill>
                <a:latin typeface="Calibri"/>
              </a:defRPr>
            </a:pPr>
            <a:r>
              <a:t>▸  5 behavioral features extracted from audit events</a:t>
            </a:r>
          </a:p>
          <a:p>
            <a:pPr>
              <a:spcBef>
                <a:spcPts val="300"/>
              </a:spcBef>
              <a:defRPr sz="1300">
                <a:solidFill>
                  <a:srgbClr val="8B949E"/>
                </a:solidFill>
                <a:latin typeface="Calibri"/>
              </a:defRPr>
            </a:pPr>
            <a:r>
              <a:t>▸  Unsupervised — no labeled training data required</a:t>
            </a:r>
          </a:p>
          <a:p>
            <a:pPr>
              <a:spcBef>
                <a:spcPts val="300"/>
              </a:spcBef>
              <a:defRPr sz="1300">
                <a:solidFill>
                  <a:srgbClr val="8B949E"/>
                </a:solidFill>
                <a:latin typeface="Calibri"/>
              </a:defRPr>
            </a:pPr>
            <a:r>
              <a:t>▸  200 estimators, 10% contamination, scores normalized [0–100]</a:t>
            </a:r>
          </a:p>
          <a:p>
            <a:pPr>
              <a:spcBef>
                <a:spcPts val="300"/>
              </a:spcBef>
              <a:defRPr sz="1300">
                <a:solidFill>
                  <a:srgbClr val="8B949E"/>
                </a:solidFill>
                <a:latin typeface="Calibri"/>
              </a:defRPr>
            </a:pPr>
            <a:r>
              <a:t>▸  Explainable: leave-one-out feature contributions</a:t>
            </a:r>
          </a:p>
        </p:txBody>
      </p:sp>
      <p:sp>
        <p:nvSpPr>
          <p:cNvPr id="6" name="TextBox 5"/>
          <p:cNvSpPr txBox="1"/>
          <p:nvPr/>
        </p:nvSpPr>
        <p:spPr>
          <a:xfrm>
            <a:off x="731520" y="3200400"/>
            <a:ext cx="5486400" cy="274320"/>
          </a:xfrm>
          <a:prstGeom prst="rect">
            <a:avLst/>
          </a:prstGeom>
          <a:noFill/>
        </p:spPr>
        <p:txBody>
          <a:bodyPr wrap="square">
            <a:spAutoFit/>
          </a:bodyPr>
          <a:lstStyle/>
          <a:p>
            <a:pPr algn="l">
              <a:defRPr sz="1600" b="1">
                <a:solidFill>
                  <a:srgbClr val="F97316"/>
                </a:solidFill>
                <a:latin typeface="Calibri"/>
              </a:defRPr>
            </a:pPr>
            <a:r>
              <a:t>Hybrid Scoring</a:t>
            </a:r>
          </a:p>
        </p:txBody>
      </p:sp>
      <p:sp>
        <p:nvSpPr>
          <p:cNvPr id="7" name="TextBox 6"/>
          <p:cNvSpPr txBox="1"/>
          <p:nvPr/>
        </p:nvSpPr>
        <p:spPr>
          <a:xfrm>
            <a:off x="731520" y="3566160"/>
            <a:ext cx="5486400" cy="274320"/>
          </a:xfrm>
          <a:prstGeom prst="rect">
            <a:avLst/>
          </a:prstGeom>
          <a:noFill/>
        </p:spPr>
        <p:txBody>
          <a:bodyPr wrap="square">
            <a:spAutoFit/>
          </a:bodyPr>
          <a:lstStyle/>
          <a:p>
            <a:pPr algn="l">
              <a:defRPr sz="1400" b="1">
                <a:solidFill>
                  <a:srgbClr val="FFFFFF"/>
                </a:solidFill>
                <a:latin typeface="Calibri"/>
              </a:defRPr>
            </a:pPr>
            <a:r>
              <a:t>final_score = (rule_score × 0.6) + (ml_score × 0.4)</a:t>
            </a:r>
          </a:p>
        </p:txBody>
      </p:sp>
      <p:sp>
        <p:nvSpPr>
          <p:cNvPr id="8" name="TextBox 7"/>
          <p:cNvSpPr txBox="1"/>
          <p:nvPr/>
        </p:nvSpPr>
        <p:spPr>
          <a:xfrm>
            <a:off x="6583680" y="1097280"/>
            <a:ext cx="5029200" cy="365760"/>
          </a:xfrm>
          <a:prstGeom prst="rect">
            <a:avLst/>
          </a:prstGeom>
          <a:noFill/>
        </p:spPr>
        <p:txBody>
          <a:bodyPr wrap="square">
            <a:spAutoFit/>
          </a:bodyPr>
          <a:lstStyle/>
          <a:p>
            <a:pPr algn="l">
              <a:defRPr sz="1600" b="1">
                <a:solidFill>
                  <a:srgbClr val="FFFFFF"/>
                </a:solidFill>
                <a:latin typeface="Calibri"/>
              </a:defRPr>
            </a:pPr>
            <a:r>
              <a:t>5 Behavioral Features</a:t>
            </a:r>
          </a:p>
        </p:txBody>
      </p:sp>
      <p:sp>
        <p:nvSpPr>
          <p:cNvPr id="9" name="TextBox 8"/>
          <p:cNvSpPr txBox="1"/>
          <p:nvPr/>
        </p:nvSpPr>
        <p:spPr>
          <a:xfrm>
            <a:off x="6583680" y="1554480"/>
            <a:ext cx="2286000" cy="274320"/>
          </a:xfrm>
          <a:prstGeom prst="rect">
            <a:avLst/>
          </a:prstGeom>
          <a:noFill/>
        </p:spPr>
        <p:txBody>
          <a:bodyPr wrap="square">
            <a:spAutoFit/>
          </a:bodyPr>
          <a:lstStyle/>
          <a:p>
            <a:pPr algn="l">
              <a:defRPr sz="1300" b="1">
                <a:solidFill>
                  <a:srgbClr val="E31937"/>
                </a:solidFill>
                <a:latin typeface="Calibri"/>
              </a:defRPr>
            </a:pPr>
            <a:r>
              <a:t>login_frequency</a:t>
            </a:r>
          </a:p>
        </p:txBody>
      </p:sp>
      <p:sp>
        <p:nvSpPr>
          <p:cNvPr id="10" name="TextBox 9"/>
          <p:cNvSpPr txBox="1"/>
          <p:nvPr/>
        </p:nvSpPr>
        <p:spPr>
          <a:xfrm>
            <a:off x="8961120" y="1554480"/>
            <a:ext cx="2743200" cy="274320"/>
          </a:xfrm>
          <a:prstGeom prst="rect">
            <a:avLst/>
          </a:prstGeom>
          <a:noFill/>
        </p:spPr>
        <p:txBody>
          <a:bodyPr wrap="square">
            <a:spAutoFit/>
          </a:bodyPr>
          <a:lstStyle/>
          <a:p>
            <a:pPr algn="l">
              <a:defRPr sz="1200" b="0">
                <a:solidFill>
                  <a:srgbClr val="8B949E"/>
                </a:solidFill>
                <a:latin typeface="Calibri"/>
              </a:defRPr>
            </a:pPr>
            <a:r>
              <a:t>Activity level per day</a:t>
            </a:r>
          </a:p>
        </p:txBody>
      </p:sp>
      <p:sp>
        <p:nvSpPr>
          <p:cNvPr id="11" name="TextBox 10"/>
          <p:cNvSpPr txBox="1"/>
          <p:nvPr/>
        </p:nvSpPr>
        <p:spPr>
          <a:xfrm>
            <a:off x="6583680" y="2057400"/>
            <a:ext cx="2286000" cy="274320"/>
          </a:xfrm>
          <a:prstGeom prst="rect">
            <a:avLst/>
          </a:prstGeom>
          <a:noFill/>
        </p:spPr>
        <p:txBody>
          <a:bodyPr wrap="square">
            <a:spAutoFit/>
          </a:bodyPr>
          <a:lstStyle/>
          <a:p>
            <a:pPr algn="l">
              <a:defRPr sz="1300" b="1">
                <a:solidFill>
                  <a:srgbClr val="E31937"/>
                </a:solidFill>
                <a:latin typeface="Calibri"/>
              </a:defRPr>
            </a:pPr>
            <a:r>
              <a:t>platform_spread</a:t>
            </a:r>
          </a:p>
        </p:txBody>
      </p:sp>
      <p:sp>
        <p:nvSpPr>
          <p:cNvPr id="12" name="TextBox 11"/>
          <p:cNvSpPr txBox="1"/>
          <p:nvPr/>
        </p:nvSpPr>
        <p:spPr>
          <a:xfrm>
            <a:off x="8961120" y="2057400"/>
            <a:ext cx="2743200" cy="274320"/>
          </a:xfrm>
          <a:prstGeom prst="rect">
            <a:avLst/>
          </a:prstGeom>
          <a:noFill/>
        </p:spPr>
        <p:txBody>
          <a:bodyPr wrap="square">
            <a:spAutoFit/>
          </a:bodyPr>
          <a:lstStyle/>
          <a:p>
            <a:pPr algn="l">
              <a:defRPr sz="1200" b="0">
                <a:solidFill>
                  <a:srgbClr val="8B949E"/>
                </a:solidFill>
                <a:latin typeface="Calibri"/>
              </a:defRPr>
            </a:pPr>
            <a:r>
              <a:t>Cross-platform exposure ratio</a:t>
            </a:r>
          </a:p>
        </p:txBody>
      </p:sp>
      <p:sp>
        <p:nvSpPr>
          <p:cNvPr id="13" name="TextBox 12"/>
          <p:cNvSpPr txBox="1"/>
          <p:nvPr/>
        </p:nvSpPr>
        <p:spPr>
          <a:xfrm>
            <a:off x="6583680" y="2560320"/>
            <a:ext cx="2286000" cy="274320"/>
          </a:xfrm>
          <a:prstGeom prst="rect">
            <a:avLst/>
          </a:prstGeom>
          <a:noFill/>
        </p:spPr>
        <p:txBody>
          <a:bodyPr wrap="square">
            <a:spAutoFit/>
          </a:bodyPr>
          <a:lstStyle/>
          <a:p>
            <a:pPr algn="l">
              <a:defRPr sz="1300" b="1">
                <a:solidFill>
                  <a:srgbClr val="E31937"/>
                </a:solidFill>
                <a:latin typeface="Calibri"/>
              </a:defRPr>
            </a:pPr>
            <a:r>
              <a:t>privilege_to_usage</a:t>
            </a:r>
          </a:p>
        </p:txBody>
      </p:sp>
      <p:sp>
        <p:nvSpPr>
          <p:cNvPr id="14" name="TextBox 13"/>
          <p:cNvSpPr txBox="1"/>
          <p:nvPr/>
        </p:nvSpPr>
        <p:spPr>
          <a:xfrm>
            <a:off x="8961120" y="2560320"/>
            <a:ext cx="2743200" cy="274320"/>
          </a:xfrm>
          <a:prstGeom prst="rect">
            <a:avLst/>
          </a:prstGeom>
          <a:noFill/>
        </p:spPr>
        <p:txBody>
          <a:bodyPr wrap="square">
            <a:spAutoFit/>
          </a:bodyPr>
          <a:lstStyle/>
          <a:p>
            <a:pPr algn="l">
              <a:defRPr sz="1200" b="0">
                <a:solidFill>
                  <a:srgbClr val="8B949E"/>
                </a:solidFill>
                <a:latin typeface="Calibri"/>
              </a:defRPr>
            </a:pPr>
            <a:r>
              <a:t>Over-provisioning indicator</a:t>
            </a:r>
          </a:p>
        </p:txBody>
      </p:sp>
      <p:sp>
        <p:nvSpPr>
          <p:cNvPr id="15" name="TextBox 14"/>
          <p:cNvSpPr txBox="1"/>
          <p:nvPr/>
        </p:nvSpPr>
        <p:spPr>
          <a:xfrm>
            <a:off x="6583680" y="3063240"/>
            <a:ext cx="2286000" cy="274320"/>
          </a:xfrm>
          <a:prstGeom prst="rect">
            <a:avLst/>
          </a:prstGeom>
          <a:noFill/>
        </p:spPr>
        <p:txBody>
          <a:bodyPr wrap="square">
            <a:spAutoFit/>
          </a:bodyPr>
          <a:lstStyle/>
          <a:p>
            <a:pPr algn="l">
              <a:defRPr sz="1300" b="1">
                <a:solidFill>
                  <a:srgbClr val="E31937"/>
                </a:solidFill>
                <a:latin typeface="Calibri"/>
              </a:defRPr>
            </a:pPr>
            <a:r>
              <a:t>dormancy</a:t>
            </a:r>
          </a:p>
        </p:txBody>
      </p:sp>
      <p:sp>
        <p:nvSpPr>
          <p:cNvPr id="16" name="TextBox 15"/>
          <p:cNvSpPr txBox="1"/>
          <p:nvPr/>
        </p:nvSpPr>
        <p:spPr>
          <a:xfrm>
            <a:off x="8961120" y="3063240"/>
            <a:ext cx="2743200" cy="274320"/>
          </a:xfrm>
          <a:prstGeom prst="rect">
            <a:avLst/>
          </a:prstGeom>
          <a:noFill/>
        </p:spPr>
        <p:txBody>
          <a:bodyPr wrap="square">
            <a:spAutoFit/>
          </a:bodyPr>
          <a:lstStyle/>
          <a:p>
            <a:pPr algn="l">
              <a:defRPr sz="1200" b="0">
                <a:solidFill>
                  <a:srgbClr val="8B949E"/>
                </a:solidFill>
                <a:latin typeface="Calibri"/>
              </a:defRPr>
            </a:pPr>
            <a:r>
              <a:t>Days since last login</a:t>
            </a:r>
          </a:p>
        </p:txBody>
      </p:sp>
      <p:sp>
        <p:nvSpPr>
          <p:cNvPr id="17" name="TextBox 16"/>
          <p:cNvSpPr txBox="1"/>
          <p:nvPr/>
        </p:nvSpPr>
        <p:spPr>
          <a:xfrm>
            <a:off x="6583680" y="3566160"/>
            <a:ext cx="2286000" cy="274320"/>
          </a:xfrm>
          <a:prstGeom prst="rect">
            <a:avLst/>
          </a:prstGeom>
          <a:noFill/>
        </p:spPr>
        <p:txBody>
          <a:bodyPr wrap="square">
            <a:spAutoFit/>
          </a:bodyPr>
          <a:lstStyle/>
          <a:p>
            <a:pPr algn="l">
              <a:defRPr sz="1300" b="1">
                <a:solidFill>
                  <a:srgbClr val="E31937"/>
                </a:solidFill>
                <a:latin typeface="Calibri"/>
              </a:defRPr>
            </a:pPr>
            <a:r>
              <a:t>hour_entropy</a:t>
            </a:r>
          </a:p>
        </p:txBody>
      </p:sp>
      <p:sp>
        <p:nvSpPr>
          <p:cNvPr id="18" name="TextBox 17"/>
          <p:cNvSpPr txBox="1"/>
          <p:nvPr/>
        </p:nvSpPr>
        <p:spPr>
          <a:xfrm>
            <a:off x="8961120" y="3566160"/>
            <a:ext cx="2743200" cy="274320"/>
          </a:xfrm>
          <a:prstGeom prst="rect">
            <a:avLst/>
          </a:prstGeom>
          <a:noFill/>
        </p:spPr>
        <p:txBody>
          <a:bodyPr wrap="square">
            <a:spAutoFit/>
          </a:bodyPr>
          <a:lstStyle/>
          <a:p>
            <a:pPr algn="l">
              <a:defRPr sz="1200" b="0">
                <a:solidFill>
                  <a:srgbClr val="8B949E"/>
                </a:solidFill>
                <a:latin typeface="Calibri"/>
              </a:defRPr>
            </a:pPr>
            <a:r>
              <a:t>Login timing regularity</a:t>
            </a:r>
          </a:p>
        </p:txBody>
      </p:sp>
      <p:sp>
        <p:nvSpPr>
          <p:cNvPr id="19" name="TextBox 18"/>
          <p:cNvSpPr txBox="1"/>
          <p:nvPr/>
        </p:nvSpPr>
        <p:spPr>
          <a:xfrm>
            <a:off x="6583680" y="4206240"/>
            <a:ext cx="5029200" cy="365760"/>
          </a:xfrm>
          <a:prstGeom prst="rect">
            <a:avLst/>
          </a:prstGeom>
          <a:noFill/>
        </p:spPr>
        <p:txBody>
          <a:bodyPr wrap="square">
            <a:spAutoFit/>
          </a:bodyPr>
          <a:lstStyle/>
          <a:p>
            <a:pPr algn="l">
              <a:defRPr sz="1600" b="1">
                <a:solidFill>
                  <a:srgbClr val="FFFFFF"/>
                </a:solidFill>
                <a:latin typeface="Calibri"/>
              </a:defRPr>
            </a:pPr>
            <a:r>
              <a:t>False-Positive Suppression</a:t>
            </a:r>
          </a:p>
        </p:txBody>
      </p:sp>
      <p:sp>
        <p:nvSpPr>
          <p:cNvPr id="20" name="TextBox 19"/>
          <p:cNvSpPr txBox="1"/>
          <p:nvPr/>
        </p:nvSpPr>
        <p:spPr>
          <a:xfrm>
            <a:off x="6583680" y="4572000"/>
            <a:ext cx="5029200" cy="1371600"/>
          </a:xfrm>
          <a:prstGeom prst="rect">
            <a:avLst/>
          </a:prstGeom>
          <a:noFill/>
        </p:spPr>
        <p:txBody>
          <a:bodyPr wrap="square">
            <a:spAutoFit/>
          </a:bodyPr>
          <a:lstStyle/>
          <a:p>
            <a:pPr>
              <a:spcBef>
                <a:spcPts val="300"/>
              </a:spcBef>
              <a:defRPr sz="1200">
                <a:solidFill>
                  <a:srgbClr val="8B949E"/>
                </a:solidFill>
                <a:latin typeface="Calibri"/>
              </a:defRPr>
            </a:pPr>
            <a:r>
              <a:t>▸  Active admin (logged in &lt;7d) → 0.85× score</a:t>
            </a:r>
          </a:p>
          <a:p>
            <a:pPr>
              <a:spcBef>
                <a:spcPts val="300"/>
              </a:spcBef>
              <a:defRPr sz="1200">
                <a:solidFill>
                  <a:srgbClr val="8B949E"/>
                </a:solidFill>
                <a:latin typeface="Calibri"/>
              </a:defRPr>
            </a:pPr>
            <a:r>
              <a:t>▸  MFA enabled everywhere → 0.80× score</a:t>
            </a:r>
          </a:p>
          <a:p>
            <a:pPr>
              <a:spcBef>
                <a:spcPts val="300"/>
              </a:spcBef>
              <a:defRPr sz="1200">
                <a:solidFill>
                  <a:srgbClr val="8B949E"/>
                </a:solidFill>
                <a:latin typeface="Calibri"/>
              </a:defRPr>
            </a:pPr>
            <a:r>
              <a:t>▸  On-call personnel → 0.60× score</a:t>
            </a:r>
          </a:p>
          <a:p>
            <a:pPr>
              <a:spcBef>
                <a:spcPts val="300"/>
              </a:spcBef>
              <a:defRPr sz="1200">
                <a:solidFill>
                  <a:srgbClr val="8B949E"/>
                </a:solidFill>
                <a:latin typeface="Calibri"/>
              </a:defRPr>
            </a:pPr>
            <a:r>
              <a:t>▸  Recent role change → 0.70× score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TextBox 1"/>
          <p:cNvSpPr txBox="1"/>
          <p:nvPr/>
        </p:nvSpPr>
        <p:spPr>
          <a:xfrm>
            <a:off x="731520" y="365760"/>
            <a:ext cx="9144000" cy="457200"/>
          </a:xfrm>
          <a:prstGeom prst="rect">
            <a:avLst/>
          </a:prstGeom>
          <a:noFill/>
        </p:spPr>
        <p:txBody>
          <a:bodyPr wrap="square">
            <a:spAutoFit/>
          </a:bodyPr>
          <a:lstStyle/>
          <a:p>
            <a:pPr algn="l">
              <a:defRPr sz="3200" b="1">
                <a:solidFill>
                  <a:srgbClr val="FFFFFF"/>
                </a:solidFill>
                <a:latin typeface="Calibri"/>
              </a:defRPr>
            </a:pPr>
            <a:r>
              <a:t>Platform Features</a:t>
            </a:r>
          </a:p>
        </p:txBody>
      </p:sp>
      <p:sp>
        <p:nvSpPr>
          <p:cNvPr id="3" name="Rectangle 2"/>
          <p:cNvSpPr/>
          <p:nvPr/>
        </p:nvSpPr>
        <p:spPr>
          <a:xfrm>
            <a:off x="731520" y="822960"/>
            <a:ext cx="18288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2103120" cy="274320"/>
          </a:xfrm>
          <a:prstGeom prst="rect">
            <a:avLst/>
          </a:prstGeom>
          <a:noFill/>
        </p:spPr>
        <p:txBody>
          <a:bodyPr wrap="square">
            <a:spAutoFit/>
          </a:bodyPr>
          <a:lstStyle/>
          <a:p>
            <a:pPr algn="l">
              <a:defRPr sz="1300" b="1">
                <a:solidFill>
                  <a:srgbClr val="FFFFFF"/>
                </a:solidFill>
                <a:latin typeface="Calibri"/>
              </a:defRPr>
            </a:pPr>
            <a:r>
              <a:t>Identity Inventory</a:t>
            </a:r>
          </a:p>
        </p:txBody>
      </p:sp>
      <p:sp>
        <p:nvSpPr>
          <p:cNvPr id="5" name="TextBox 4"/>
          <p:cNvSpPr txBox="1"/>
          <p:nvPr/>
        </p:nvSpPr>
        <p:spPr>
          <a:xfrm>
            <a:off x="2926080" y="1097280"/>
            <a:ext cx="3200400" cy="274320"/>
          </a:xfrm>
          <a:prstGeom prst="rect">
            <a:avLst/>
          </a:prstGeom>
          <a:noFill/>
        </p:spPr>
        <p:txBody>
          <a:bodyPr wrap="square">
            <a:spAutoFit/>
          </a:bodyPr>
          <a:lstStyle/>
          <a:p>
            <a:pPr algn="l">
              <a:defRPr sz="1100" b="0">
                <a:solidFill>
                  <a:srgbClr val="8B949E"/>
                </a:solidFill>
                <a:latin typeface="Calibri"/>
              </a:defRPr>
            </a:pPr>
            <a:r>
              <a:t>370 identities with search, filter, status drill-down</a:t>
            </a:r>
          </a:p>
        </p:txBody>
      </p:sp>
      <p:sp>
        <p:nvSpPr>
          <p:cNvPr id="6" name="TextBox 5"/>
          <p:cNvSpPr txBox="1"/>
          <p:nvPr/>
        </p:nvSpPr>
        <p:spPr>
          <a:xfrm>
            <a:off x="731520" y="1847088"/>
            <a:ext cx="2103120" cy="274320"/>
          </a:xfrm>
          <a:prstGeom prst="rect">
            <a:avLst/>
          </a:prstGeom>
          <a:noFill/>
        </p:spPr>
        <p:txBody>
          <a:bodyPr wrap="square">
            <a:spAutoFit/>
          </a:bodyPr>
          <a:lstStyle/>
          <a:p>
            <a:pPr algn="l">
              <a:defRPr sz="1300" b="1">
                <a:solidFill>
                  <a:srgbClr val="FFFFFF"/>
                </a:solidFill>
                <a:latin typeface="Calibri"/>
              </a:defRPr>
            </a:pPr>
            <a:r>
              <a:t>Identity Correlation</a:t>
            </a:r>
          </a:p>
        </p:txBody>
      </p:sp>
      <p:sp>
        <p:nvSpPr>
          <p:cNvPr id="7" name="TextBox 6"/>
          <p:cNvSpPr txBox="1"/>
          <p:nvPr/>
        </p:nvSpPr>
        <p:spPr>
          <a:xfrm>
            <a:off x="2926080" y="1847088"/>
            <a:ext cx="3200400" cy="274320"/>
          </a:xfrm>
          <a:prstGeom prst="rect">
            <a:avLst/>
          </a:prstGeom>
          <a:noFill/>
        </p:spPr>
        <p:txBody>
          <a:bodyPr wrap="square">
            <a:spAutoFit/>
          </a:bodyPr>
          <a:lstStyle/>
          <a:p>
            <a:pPr algn="l">
              <a:defRPr sz="1100" b="0">
                <a:solidFill>
                  <a:srgbClr val="8B949E"/>
                </a:solidFill>
                <a:latin typeface="Calibri"/>
              </a:defRPr>
            </a:pPr>
            <a:r>
              <a:t>ReactFlow graph: person → accounts across 7 platforms</a:t>
            </a:r>
          </a:p>
        </p:txBody>
      </p:sp>
      <p:sp>
        <p:nvSpPr>
          <p:cNvPr id="8" name="TextBox 7"/>
          <p:cNvSpPr txBox="1"/>
          <p:nvPr/>
        </p:nvSpPr>
        <p:spPr>
          <a:xfrm>
            <a:off x="731520" y="2596896"/>
            <a:ext cx="2103120" cy="274320"/>
          </a:xfrm>
          <a:prstGeom prst="rect">
            <a:avLst/>
          </a:prstGeom>
          <a:noFill/>
        </p:spPr>
        <p:txBody>
          <a:bodyPr wrap="square">
            <a:spAutoFit/>
          </a:bodyPr>
          <a:lstStyle/>
          <a:p>
            <a:pPr algn="l">
              <a:defRPr sz="1300" b="1">
                <a:solidFill>
                  <a:srgbClr val="FFFFFF"/>
                </a:solidFill>
                <a:latin typeface="Calibri"/>
              </a:defRPr>
            </a:pPr>
            <a:r>
              <a:t>Access Review</a:t>
            </a:r>
          </a:p>
        </p:txBody>
      </p:sp>
      <p:sp>
        <p:nvSpPr>
          <p:cNvPr id="9" name="TextBox 8"/>
          <p:cNvSpPr txBox="1"/>
          <p:nvPr/>
        </p:nvSpPr>
        <p:spPr>
          <a:xfrm>
            <a:off x="2926080" y="2596896"/>
            <a:ext cx="3200400" cy="274320"/>
          </a:xfrm>
          <a:prstGeom prst="rect">
            <a:avLst/>
          </a:prstGeom>
          <a:noFill/>
        </p:spPr>
        <p:txBody>
          <a:bodyPr wrap="square">
            <a:spAutoFit/>
          </a:bodyPr>
          <a:lstStyle/>
          <a:p>
            <a:pPr algn="l">
              <a:defRPr sz="1100" b="0">
                <a:solidFill>
                  <a:srgbClr val="8B949E"/>
                </a:solidFill>
                <a:latin typeface="Calibri"/>
              </a:defRPr>
            </a:pPr>
            <a:r>
              <a:t>Approve / Revoke / Escalate with AI recommendations</a:t>
            </a:r>
          </a:p>
        </p:txBody>
      </p:sp>
      <p:sp>
        <p:nvSpPr>
          <p:cNvPr id="10" name="TextBox 9"/>
          <p:cNvSpPr txBox="1"/>
          <p:nvPr/>
        </p:nvSpPr>
        <p:spPr>
          <a:xfrm>
            <a:off x="731520" y="3346704"/>
            <a:ext cx="2103120" cy="274320"/>
          </a:xfrm>
          <a:prstGeom prst="rect">
            <a:avLst/>
          </a:prstGeom>
          <a:noFill/>
        </p:spPr>
        <p:txBody>
          <a:bodyPr wrap="square">
            <a:spAutoFit/>
          </a:bodyPr>
          <a:lstStyle/>
          <a:p>
            <a:pPr algn="l">
              <a:defRPr sz="1300" b="1">
                <a:solidFill>
                  <a:srgbClr val="FFFFFF"/>
                </a:solidFill>
                <a:latin typeface="Calibri"/>
              </a:defRPr>
            </a:pPr>
            <a:r>
              <a:t>Privilege Explorer</a:t>
            </a:r>
          </a:p>
        </p:txBody>
      </p:sp>
      <p:sp>
        <p:nvSpPr>
          <p:cNvPr id="11" name="TextBox 10"/>
          <p:cNvSpPr txBox="1"/>
          <p:nvPr/>
        </p:nvSpPr>
        <p:spPr>
          <a:xfrm>
            <a:off x="2926080" y="3346704"/>
            <a:ext cx="3200400" cy="274320"/>
          </a:xfrm>
          <a:prstGeom prst="rect">
            <a:avLst/>
          </a:prstGeom>
          <a:noFill/>
        </p:spPr>
        <p:txBody>
          <a:bodyPr wrap="square">
            <a:spAutoFit/>
          </a:bodyPr>
          <a:lstStyle/>
          <a:p>
            <a:pPr algn="l">
              <a:defRPr sz="1100" b="0">
                <a:solidFill>
                  <a:srgbClr val="8B949E"/>
                </a:solidFill>
                <a:latin typeface="Calibri"/>
              </a:defRPr>
            </a:pPr>
            <a:r>
              <a:t>User → Group → Role → Permission → Resource</a:t>
            </a:r>
          </a:p>
        </p:txBody>
      </p:sp>
      <p:sp>
        <p:nvSpPr>
          <p:cNvPr id="12" name="TextBox 11"/>
          <p:cNvSpPr txBox="1"/>
          <p:nvPr/>
        </p:nvSpPr>
        <p:spPr>
          <a:xfrm>
            <a:off x="731520" y="4096511"/>
            <a:ext cx="2103120" cy="274320"/>
          </a:xfrm>
          <a:prstGeom prst="rect">
            <a:avLst/>
          </a:prstGeom>
          <a:noFill/>
        </p:spPr>
        <p:txBody>
          <a:bodyPr wrap="square">
            <a:spAutoFit/>
          </a:bodyPr>
          <a:lstStyle/>
          <a:p>
            <a:pPr algn="l">
              <a:defRPr sz="1300" b="1">
                <a:solidFill>
                  <a:srgbClr val="FFFFFF"/>
                </a:solidFill>
                <a:latin typeface="Calibri"/>
              </a:defRPr>
            </a:pPr>
            <a:r>
              <a:t>Risk Findings</a:t>
            </a:r>
          </a:p>
        </p:txBody>
      </p:sp>
      <p:sp>
        <p:nvSpPr>
          <p:cNvPr id="13" name="TextBox 12"/>
          <p:cNvSpPr txBox="1"/>
          <p:nvPr/>
        </p:nvSpPr>
        <p:spPr>
          <a:xfrm>
            <a:off x="2926080" y="4096511"/>
            <a:ext cx="3200400" cy="274320"/>
          </a:xfrm>
          <a:prstGeom prst="rect">
            <a:avLst/>
          </a:prstGeom>
          <a:noFill/>
        </p:spPr>
        <p:txBody>
          <a:bodyPr wrap="square">
            <a:spAutoFit/>
          </a:bodyPr>
          <a:lstStyle/>
          <a:p>
            <a:pPr algn="l">
              <a:defRPr sz="1100" b="0">
                <a:solidFill>
                  <a:srgbClr val="8B949E"/>
                </a:solidFill>
                <a:latin typeface="Calibri"/>
              </a:defRPr>
            </a:pPr>
            <a:r>
              <a:t>505 events across 8 types with severity filtering</a:t>
            </a:r>
          </a:p>
        </p:txBody>
      </p:sp>
      <p:sp>
        <p:nvSpPr>
          <p:cNvPr id="14" name="TextBox 13"/>
          <p:cNvSpPr txBox="1"/>
          <p:nvPr/>
        </p:nvSpPr>
        <p:spPr>
          <a:xfrm>
            <a:off x="731520" y="4846320"/>
            <a:ext cx="2103120" cy="274320"/>
          </a:xfrm>
          <a:prstGeom prst="rect">
            <a:avLst/>
          </a:prstGeom>
          <a:noFill/>
        </p:spPr>
        <p:txBody>
          <a:bodyPr wrap="square">
            <a:spAutoFit/>
          </a:bodyPr>
          <a:lstStyle/>
          <a:p>
            <a:pPr algn="l">
              <a:defRPr sz="1300" b="1">
                <a:solidFill>
                  <a:srgbClr val="FFFFFF"/>
                </a:solidFill>
                <a:latin typeface="Calibri"/>
              </a:defRPr>
            </a:pPr>
            <a:r>
              <a:t>Offboarding Gaps</a:t>
            </a:r>
          </a:p>
        </p:txBody>
      </p:sp>
      <p:sp>
        <p:nvSpPr>
          <p:cNvPr id="15" name="TextBox 14"/>
          <p:cNvSpPr txBox="1"/>
          <p:nvPr/>
        </p:nvSpPr>
        <p:spPr>
          <a:xfrm>
            <a:off x="2926080" y="4846320"/>
            <a:ext cx="3200400" cy="274320"/>
          </a:xfrm>
          <a:prstGeom prst="rect">
            <a:avLst/>
          </a:prstGeom>
          <a:noFill/>
        </p:spPr>
        <p:txBody>
          <a:bodyPr wrap="square">
            <a:spAutoFit/>
          </a:bodyPr>
          <a:lstStyle/>
          <a:p>
            <a:pPr algn="l">
              <a:defRPr sz="1100" b="0">
                <a:solidFill>
                  <a:srgbClr val="8B949E"/>
                </a:solidFill>
                <a:latin typeface="Calibri"/>
              </a:defRPr>
            </a:pPr>
            <a:r>
              <a:t>32 terminated-but-active gaps detected</a:t>
            </a:r>
          </a:p>
        </p:txBody>
      </p:sp>
      <p:sp>
        <p:nvSpPr>
          <p:cNvPr id="16" name="TextBox 15"/>
          <p:cNvSpPr txBox="1"/>
          <p:nvPr/>
        </p:nvSpPr>
        <p:spPr>
          <a:xfrm>
            <a:off x="731520" y="5596128"/>
            <a:ext cx="2103120" cy="274320"/>
          </a:xfrm>
          <a:prstGeom prst="rect">
            <a:avLst/>
          </a:prstGeom>
          <a:noFill/>
        </p:spPr>
        <p:txBody>
          <a:bodyPr wrap="square">
            <a:spAutoFit/>
          </a:bodyPr>
          <a:lstStyle/>
          <a:p>
            <a:pPr algn="l">
              <a:defRPr sz="1300" b="1">
                <a:solidFill>
                  <a:srgbClr val="FFFFFF"/>
                </a:solidFill>
                <a:latin typeface="Calibri"/>
              </a:defRPr>
            </a:pPr>
            <a:r>
              <a:t>Attack Paths</a:t>
            </a:r>
          </a:p>
        </p:txBody>
      </p:sp>
      <p:sp>
        <p:nvSpPr>
          <p:cNvPr id="17" name="TextBox 16"/>
          <p:cNvSpPr txBox="1"/>
          <p:nvPr/>
        </p:nvSpPr>
        <p:spPr>
          <a:xfrm>
            <a:off x="2926080" y="5596128"/>
            <a:ext cx="3200400" cy="274320"/>
          </a:xfrm>
          <a:prstGeom prst="rect">
            <a:avLst/>
          </a:prstGeom>
          <a:noFill/>
        </p:spPr>
        <p:txBody>
          <a:bodyPr wrap="square">
            <a:spAutoFit/>
          </a:bodyPr>
          <a:lstStyle/>
          <a:p>
            <a:pPr algn="l">
              <a:defRPr sz="1100" b="0">
                <a:solidFill>
                  <a:srgbClr val="8B949E"/>
                </a:solidFill>
                <a:latin typeface="Calibri"/>
              </a:defRPr>
            </a:pPr>
            <a:r>
              <a:t>Simplified + Technical views with MITRE mapping</a:t>
            </a:r>
          </a:p>
        </p:txBody>
      </p:sp>
      <p:sp>
        <p:nvSpPr>
          <p:cNvPr id="18" name="TextBox 17"/>
          <p:cNvSpPr txBox="1"/>
          <p:nvPr/>
        </p:nvSpPr>
        <p:spPr>
          <a:xfrm>
            <a:off x="6400800" y="1097280"/>
            <a:ext cx="2103120" cy="274320"/>
          </a:xfrm>
          <a:prstGeom prst="rect">
            <a:avLst/>
          </a:prstGeom>
          <a:noFill/>
        </p:spPr>
        <p:txBody>
          <a:bodyPr wrap="square">
            <a:spAutoFit/>
          </a:bodyPr>
          <a:lstStyle/>
          <a:p>
            <a:pPr algn="l">
              <a:defRPr sz="1300" b="1">
                <a:solidFill>
                  <a:srgbClr val="FFFFFF"/>
                </a:solidFill>
                <a:latin typeface="Calibri"/>
              </a:defRPr>
            </a:pPr>
            <a:r>
              <a:t>Blast Radius</a:t>
            </a:r>
          </a:p>
        </p:txBody>
      </p:sp>
      <p:sp>
        <p:nvSpPr>
          <p:cNvPr id="19" name="TextBox 18"/>
          <p:cNvSpPr txBox="1"/>
          <p:nvPr/>
        </p:nvSpPr>
        <p:spPr>
          <a:xfrm>
            <a:off x="8595360" y="1097280"/>
            <a:ext cx="3200400" cy="274320"/>
          </a:xfrm>
          <a:prstGeom prst="rect">
            <a:avLst/>
          </a:prstGeom>
          <a:noFill/>
        </p:spPr>
        <p:txBody>
          <a:bodyPr wrap="square">
            <a:spAutoFit/>
          </a:bodyPr>
          <a:lstStyle/>
          <a:p>
            <a:pPr algn="l">
              <a:defRPr sz="1100" b="0">
                <a:solidFill>
                  <a:srgbClr val="8B949E"/>
                </a:solidFill>
                <a:latin typeface="Calibri"/>
              </a:defRPr>
            </a:pPr>
            <a:r>
              <a:t>What-if simulation: revoke role → measure reduction</a:t>
            </a:r>
          </a:p>
        </p:txBody>
      </p:sp>
      <p:sp>
        <p:nvSpPr>
          <p:cNvPr id="20" name="TextBox 19"/>
          <p:cNvSpPr txBox="1"/>
          <p:nvPr/>
        </p:nvSpPr>
        <p:spPr>
          <a:xfrm>
            <a:off x="6400800" y="1847088"/>
            <a:ext cx="2103120" cy="274320"/>
          </a:xfrm>
          <a:prstGeom prst="rect">
            <a:avLst/>
          </a:prstGeom>
          <a:noFill/>
        </p:spPr>
        <p:txBody>
          <a:bodyPr wrap="square">
            <a:spAutoFit/>
          </a:bodyPr>
          <a:lstStyle/>
          <a:p>
            <a:pPr algn="l">
              <a:defRPr sz="1300" b="1">
                <a:solidFill>
                  <a:srgbClr val="FFFFFF"/>
                </a:solidFill>
                <a:latin typeface="Calibri"/>
              </a:defRPr>
            </a:pPr>
            <a:r>
              <a:t>Privilege Heatmap</a:t>
            </a:r>
          </a:p>
        </p:txBody>
      </p:sp>
      <p:sp>
        <p:nvSpPr>
          <p:cNvPr id="21" name="TextBox 20"/>
          <p:cNvSpPr txBox="1"/>
          <p:nvPr/>
        </p:nvSpPr>
        <p:spPr>
          <a:xfrm>
            <a:off x="8595360" y="1847088"/>
            <a:ext cx="3200400" cy="274320"/>
          </a:xfrm>
          <a:prstGeom prst="rect">
            <a:avLst/>
          </a:prstGeom>
          <a:noFill/>
        </p:spPr>
        <p:txBody>
          <a:bodyPr wrap="square">
            <a:spAutoFit/>
          </a:bodyPr>
          <a:lstStyle/>
          <a:p>
            <a:pPr algn="l">
              <a:defRPr sz="1100" b="0">
                <a:solidFill>
                  <a:srgbClr val="8B949E"/>
                </a:solidFill>
                <a:latin typeface="Calibri"/>
              </a:defRPr>
            </a:pPr>
            <a:r>
              <a:t>Platform × Department risk concentration matrix</a:t>
            </a:r>
          </a:p>
        </p:txBody>
      </p:sp>
      <p:sp>
        <p:nvSpPr>
          <p:cNvPr id="22" name="TextBox 21"/>
          <p:cNvSpPr txBox="1"/>
          <p:nvPr/>
        </p:nvSpPr>
        <p:spPr>
          <a:xfrm>
            <a:off x="6400800" y="2596896"/>
            <a:ext cx="2103120" cy="274320"/>
          </a:xfrm>
          <a:prstGeom prst="rect">
            <a:avLst/>
          </a:prstGeom>
          <a:noFill/>
        </p:spPr>
        <p:txBody>
          <a:bodyPr wrap="square">
            <a:spAutoFit/>
          </a:bodyPr>
          <a:lstStyle/>
          <a:p>
            <a:pPr algn="l">
              <a:defRPr sz="1300" b="1">
                <a:solidFill>
                  <a:srgbClr val="FFFFFF"/>
                </a:solidFill>
                <a:latin typeface="Calibri"/>
              </a:defRPr>
            </a:pPr>
            <a:r>
              <a:t>AI Copilot</a:t>
            </a:r>
          </a:p>
        </p:txBody>
      </p:sp>
      <p:sp>
        <p:nvSpPr>
          <p:cNvPr id="23" name="TextBox 22"/>
          <p:cNvSpPr txBox="1"/>
          <p:nvPr/>
        </p:nvSpPr>
        <p:spPr>
          <a:xfrm>
            <a:off x="8595360" y="2596896"/>
            <a:ext cx="3200400" cy="274320"/>
          </a:xfrm>
          <a:prstGeom prst="rect">
            <a:avLst/>
          </a:prstGeom>
          <a:noFill/>
        </p:spPr>
        <p:txBody>
          <a:bodyPr wrap="square">
            <a:spAutoFit/>
          </a:bodyPr>
          <a:lstStyle/>
          <a:p>
            <a:pPr algn="l">
              <a:defRPr sz="1100" b="0">
                <a:solidFill>
                  <a:srgbClr val="8B949E"/>
                </a:solidFill>
                <a:latin typeface="Calibri"/>
              </a:defRPr>
            </a:pPr>
            <a:r>
              <a:t>Evidence-based risk analysis + remediation plans</a:t>
            </a:r>
          </a:p>
        </p:txBody>
      </p:sp>
      <p:sp>
        <p:nvSpPr>
          <p:cNvPr id="24" name="TextBox 23"/>
          <p:cNvSpPr txBox="1"/>
          <p:nvPr/>
        </p:nvSpPr>
        <p:spPr>
          <a:xfrm>
            <a:off x="6400800" y="3346704"/>
            <a:ext cx="2103120" cy="274320"/>
          </a:xfrm>
          <a:prstGeom prst="rect">
            <a:avLst/>
          </a:prstGeom>
          <a:noFill/>
        </p:spPr>
        <p:txBody>
          <a:bodyPr wrap="square">
            <a:spAutoFit/>
          </a:bodyPr>
          <a:lstStyle/>
          <a:p>
            <a:pPr algn="l">
              <a:defRPr sz="1300" b="1">
                <a:solidFill>
                  <a:srgbClr val="FFFFFF"/>
                </a:solidFill>
                <a:latin typeface="Calibri"/>
              </a:defRPr>
            </a:pPr>
            <a:r>
              <a:t>Incident Center</a:t>
            </a:r>
          </a:p>
        </p:txBody>
      </p:sp>
      <p:sp>
        <p:nvSpPr>
          <p:cNvPr id="25" name="TextBox 24"/>
          <p:cNvSpPr txBox="1"/>
          <p:nvPr/>
        </p:nvSpPr>
        <p:spPr>
          <a:xfrm>
            <a:off x="8595360" y="3346704"/>
            <a:ext cx="3200400" cy="274320"/>
          </a:xfrm>
          <a:prstGeom prst="rect">
            <a:avLst/>
          </a:prstGeom>
          <a:noFill/>
        </p:spPr>
        <p:txBody>
          <a:bodyPr wrap="square">
            <a:spAutoFit/>
          </a:bodyPr>
          <a:lstStyle/>
          <a:p>
            <a:pPr algn="l">
              <a:defRPr sz="1100" b="0">
                <a:solidFill>
                  <a:srgbClr val="8B949E"/>
                </a:solidFill>
                <a:latin typeface="Calibri"/>
              </a:defRPr>
            </a:pPr>
            <a:r>
              <a:t>Open → Review → Approve → Resolve workflow</a:t>
            </a:r>
          </a:p>
        </p:txBody>
      </p:sp>
      <p:sp>
        <p:nvSpPr>
          <p:cNvPr id="26" name="TextBox 25"/>
          <p:cNvSpPr txBox="1"/>
          <p:nvPr/>
        </p:nvSpPr>
        <p:spPr>
          <a:xfrm>
            <a:off x="6400800" y="4096511"/>
            <a:ext cx="2103120" cy="274320"/>
          </a:xfrm>
          <a:prstGeom prst="rect">
            <a:avLst/>
          </a:prstGeom>
          <a:noFill/>
        </p:spPr>
        <p:txBody>
          <a:bodyPr wrap="square">
            <a:spAutoFit/>
          </a:bodyPr>
          <a:lstStyle/>
          <a:p>
            <a:pPr algn="l">
              <a:defRPr sz="1300" b="1">
                <a:solidFill>
                  <a:srgbClr val="FFFFFF"/>
                </a:solidFill>
                <a:latin typeface="Calibri"/>
              </a:defRPr>
            </a:pPr>
            <a:r>
              <a:t>Scenario Simulator</a:t>
            </a:r>
          </a:p>
        </p:txBody>
      </p:sp>
      <p:sp>
        <p:nvSpPr>
          <p:cNvPr id="27" name="TextBox 26"/>
          <p:cNvSpPr txBox="1"/>
          <p:nvPr/>
        </p:nvSpPr>
        <p:spPr>
          <a:xfrm>
            <a:off x="8595360" y="4096511"/>
            <a:ext cx="3200400" cy="274320"/>
          </a:xfrm>
          <a:prstGeom prst="rect">
            <a:avLst/>
          </a:prstGeom>
          <a:noFill/>
        </p:spPr>
        <p:txBody>
          <a:bodyPr wrap="square">
            <a:spAutoFit/>
          </a:bodyPr>
          <a:lstStyle/>
          <a:p>
            <a:pPr algn="l">
              <a:defRPr sz="1100" b="0">
                <a:solidFill>
                  <a:srgbClr val="8B949E"/>
                </a:solidFill>
                <a:latin typeface="Calibri"/>
              </a:defRPr>
            </a:pPr>
            <a:r>
              <a:t>5 live sim types with real-time detection</a:t>
            </a:r>
          </a:p>
        </p:txBody>
      </p:sp>
      <p:sp>
        <p:nvSpPr>
          <p:cNvPr id="28" name="TextBox 27"/>
          <p:cNvSpPr txBox="1"/>
          <p:nvPr/>
        </p:nvSpPr>
        <p:spPr>
          <a:xfrm>
            <a:off x="6400800" y="4846320"/>
            <a:ext cx="2103120" cy="274320"/>
          </a:xfrm>
          <a:prstGeom prst="rect">
            <a:avLst/>
          </a:prstGeom>
          <a:noFill/>
        </p:spPr>
        <p:txBody>
          <a:bodyPr wrap="square">
            <a:spAutoFit/>
          </a:bodyPr>
          <a:lstStyle/>
          <a:p>
            <a:pPr algn="l">
              <a:defRPr sz="1300" b="1">
                <a:solidFill>
                  <a:srgbClr val="FFFFFF"/>
                </a:solidFill>
                <a:latin typeface="Calibri"/>
              </a:defRPr>
            </a:pPr>
            <a:r>
              <a:t>Compliance Center</a:t>
            </a:r>
          </a:p>
        </p:txBody>
      </p:sp>
      <p:sp>
        <p:nvSpPr>
          <p:cNvPr id="29" name="TextBox 28"/>
          <p:cNvSpPr txBox="1"/>
          <p:nvPr/>
        </p:nvSpPr>
        <p:spPr>
          <a:xfrm>
            <a:off x="8595360" y="4846320"/>
            <a:ext cx="3200400" cy="274320"/>
          </a:xfrm>
          <a:prstGeom prst="rect">
            <a:avLst/>
          </a:prstGeom>
          <a:noFill/>
        </p:spPr>
        <p:txBody>
          <a:bodyPr wrap="square">
            <a:spAutoFit/>
          </a:bodyPr>
          <a:lstStyle/>
          <a:p>
            <a:pPr algn="l">
              <a:defRPr sz="1100" b="0">
                <a:solidFill>
                  <a:srgbClr val="8B949E"/>
                </a:solidFill>
                <a:latin typeface="Calibri"/>
              </a:defRPr>
            </a:pPr>
            <a:r>
              <a:t>NIST · MITRE · GDPR · CIS drill-down</a:t>
            </a:r>
          </a:p>
        </p:txBody>
      </p:sp>
      <p:sp>
        <p:nvSpPr>
          <p:cNvPr id="30" name="TextBox 29"/>
          <p:cNvSpPr txBox="1"/>
          <p:nvPr/>
        </p:nvSpPr>
        <p:spPr>
          <a:xfrm>
            <a:off x="6400800" y="5596128"/>
            <a:ext cx="2103120" cy="274320"/>
          </a:xfrm>
          <a:prstGeom prst="rect">
            <a:avLst/>
          </a:prstGeom>
          <a:noFill/>
        </p:spPr>
        <p:txBody>
          <a:bodyPr wrap="square">
            <a:spAutoFit/>
          </a:bodyPr>
          <a:lstStyle/>
          <a:p>
            <a:pPr algn="l">
              <a:defRPr sz="1300" b="1">
                <a:solidFill>
                  <a:srgbClr val="FFFFFF"/>
                </a:solidFill>
                <a:latin typeface="Calibri"/>
              </a:defRPr>
            </a:pPr>
            <a:r>
              <a:t>5 Role Portals</a:t>
            </a:r>
          </a:p>
        </p:txBody>
      </p:sp>
      <p:sp>
        <p:nvSpPr>
          <p:cNvPr id="31" name="TextBox 30"/>
          <p:cNvSpPr txBox="1"/>
          <p:nvPr/>
        </p:nvSpPr>
        <p:spPr>
          <a:xfrm>
            <a:off x="8595360" y="5596128"/>
            <a:ext cx="3200400" cy="274320"/>
          </a:xfrm>
          <a:prstGeom prst="rect">
            <a:avLst/>
          </a:prstGeom>
          <a:noFill/>
        </p:spPr>
        <p:txBody>
          <a:bodyPr wrap="square">
            <a:spAutoFit/>
          </a:bodyPr>
          <a:lstStyle/>
          <a:p>
            <a:pPr algn="l">
              <a:defRPr sz="1100" b="0">
                <a:solidFill>
                  <a:srgbClr val="8B949E"/>
                </a:solidFill>
                <a:latin typeface="Calibri"/>
              </a:defRPr>
            </a:pPr>
            <a:r>
              <a:t>Admin · Auditor · Executive · Employee · Contractor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TextBox 1"/>
          <p:cNvSpPr txBox="1"/>
          <p:nvPr/>
        </p:nvSpPr>
        <p:spPr>
          <a:xfrm>
            <a:off x="731520" y="365760"/>
            <a:ext cx="9144000" cy="457200"/>
          </a:xfrm>
          <a:prstGeom prst="rect">
            <a:avLst/>
          </a:prstGeom>
          <a:noFill/>
        </p:spPr>
        <p:txBody>
          <a:bodyPr wrap="square">
            <a:spAutoFit/>
          </a:bodyPr>
          <a:lstStyle/>
          <a:p>
            <a:pPr algn="l">
              <a:defRPr sz="3200" b="1">
                <a:solidFill>
                  <a:srgbClr val="FFFFFF"/>
                </a:solidFill>
                <a:latin typeface="Calibri"/>
              </a:defRPr>
            </a:pPr>
            <a:r>
              <a:t>Detection Capabilities</a:t>
            </a:r>
          </a:p>
        </p:txBody>
      </p:sp>
      <p:sp>
        <p:nvSpPr>
          <p:cNvPr id="3" name="Rectangle 2"/>
          <p:cNvSpPr/>
          <p:nvPr/>
        </p:nvSpPr>
        <p:spPr>
          <a:xfrm>
            <a:off x="731520" y="822960"/>
            <a:ext cx="18288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188720"/>
            <a:ext cx="2560320" cy="914400"/>
          </a:xfrm>
          <a:prstGeom prst="roundRect">
            <a:avLst/>
          </a:prstGeom>
          <a:solidFill>
            <a:srgbClr val="0D111A"/>
          </a:solidFill>
          <a:ln w="1905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E31937"/>
                </a:solidFill>
                <a:latin typeface="Calibri"/>
              </a:defRPr>
            </a:pPr>
            <a:r>
              <a:t>164</a:t>
            </a:r>
          </a:p>
          <a:p>
            <a:pPr algn="ctr">
              <a:defRPr sz="1000">
                <a:solidFill>
                  <a:srgbClr val="8B949E"/>
                </a:solidFill>
                <a:latin typeface="Calibri"/>
              </a:defRPr>
            </a:pPr>
            <a:r>
              <a:t>MFA Gaps</a:t>
            </a:r>
          </a:p>
        </p:txBody>
      </p:sp>
      <p:sp>
        <p:nvSpPr>
          <p:cNvPr id="5" name="Rounded Rectangle 4"/>
          <p:cNvSpPr/>
          <p:nvPr/>
        </p:nvSpPr>
        <p:spPr>
          <a:xfrm>
            <a:off x="3566160" y="1188720"/>
            <a:ext cx="2560320" cy="914400"/>
          </a:xfrm>
          <a:prstGeom prst="roundRect">
            <a:avLst/>
          </a:prstGeom>
          <a:solidFill>
            <a:srgbClr val="0D11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F97316"/>
                </a:solidFill>
                <a:latin typeface="Calibri"/>
              </a:defRPr>
            </a:pPr>
            <a:r>
              <a:t>110</a:t>
            </a:r>
          </a:p>
          <a:p>
            <a:pPr algn="ctr">
              <a:defRPr sz="1000">
                <a:solidFill>
                  <a:srgbClr val="8B949E"/>
                </a:solidFill>
                <a:latin typeface="Calibri"/>
              </a:defRPr>
            </a:pPr>
            <a:r>
              <a:t>Privilege Escalation</a:t>
            </a:r>
          </a:p>
        </p:txBody>
      </p:sp>
      <p:sp>
        <p:nvSpPr>
          <p:cNvPr id="6" name="Rounded Rectangle 5"/>
          <p:cNvSpPr/>
          <p:nvPr/>
        </p:nvSpPr>
        <p:spPr>
          <a:xfrm>
            <a:off x="6400800" y="1188720"/>
            <a:ext cx="2560320" cy="914400"/>
          </a:xfrm>
          <a:prstGeom prst="roundRect">
            <a:avLst/>
          </a:prstGeom>
          <a:solidFill>
            <a:srgbClr val="0D111A"/>
          </a:solidFill>
          <a:ln w="1905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E31937"/>
                </a:solidFill>
                <a:latin typeface="Calibri"/>
              </a:defRPr>
            </a:pPr>
            <a:r>
              <a:t>107</a:t>
            </a:r>
          </a:p>
          <a:p>
            <a:pPr algn="ctr">
              <a:defRPr sz="1000">
                <a:solidFill>
                  <a:srgbClr val="8B949E"/>
                </a:solidFill>
                <a:latin typeface="Calibri"/>
              </a:defRPr>
            </a:pPr>
            <a:r>
              <a:t>Cross-Platform Admins</a:t>
            </a:r>
          </a:p>
        </p:txBody>
      </p:sp>
      <p:sp>
        <p:nvSpPr>
          <p:cNvPr id="7" name="Rounded Rectangle 6"/>
          <p:cNvSpPr/>
          <p:nvPr/>
        </p:nvSpPr>
        <p:spPr>
          <a:xfrm>
            <a:off x="9235440" y="1188720"/>
            <a:ext cx="2560320" cy="914400"/>
          </a:xfrm>
          <a:prstGeom prst="roundRect">
            <a:avLst/>
          </a:prstGeom>
          <a:solidFill>
            <a:srgbClr val="0D11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F97316"/>
                </a:solidFill>
                <a:latin typeface="Calibri"/>
              </a:defRPr>
            </a:pPr>
            <a:r>
              <a:t>49</a:t>
            </a:r>
          </a:p>
          <a:p>
            <a:pPr algn="ctr">
              <a:defRPr sz="1000">
                <a:solidFill>
                  <a:srgbClr val="8B949E"/>
                </a:solidFill>
                <a:latin typeface="Calibri"/>
              </a:defRPr>
            </a:pPr>
            <a:r>
              <a:t>Orphaned Accounts</a:t>
            </a:r>
          </a:p>
        </p:txBody>
      </p:sp>
      <p:sp>
        <p:nvSpPr>
          <p:cNvPr id="8" name="Rounded Rectangle 7"/>
          <p:cNvSpPr/>
          <p:nvPr/>
        </p:nvSpPr>
        <p:spPr>
          <a:xfrm>
            <a:off x="731520" y="3474720"/>
            <a:ext cx="2560320" cy="914400"/>
          </a:xfrm>
          <a:prstGeom prst="roundRect">
            <a:avLst/>
          </a:prstGeom>
          <a:solidFill>
            <a:srgbClr val="0D111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EAB308"/>
                </a:solidFill>
                <a:latin typeface="Calibri"/>
              </a:defRPr>
            </a:pPr>
            <a:r>
              <a:t>32</a:t>
            </a:r>
          </a:p>
          <a:p>
            <a:pPr algn="ctr">
              <a:defRPr sz="1000">
                <a:solidFill>
                  <a:srgbClr val="8B949E"/>
                </a:solidFill>
                <a:latin typeface="Calibri"/>
              </a:defRPr>
            </a:pPr>
            <a:r>
              <a:t>Offboarding Gaps</a:t>
            </a:r>
          </a:p>
        </p:txBody>
      </p:sp>
      <p:sp>
        <p:nvSpPr>
          <p:cNvPr id="9" name="Rounded Rectangle 8"/>
          <p:cNvSpPr/>
          <p:nvPr/>
        </p:nvSpPr>
        <p:spPr>
          <a:xfrm>
            <a:off x="3566160" y="3474720"/>
            <a:ext cx="2560320" cy="914400"/>
          </a:xfrm>
          <a:prstGeom prst="roundRect">
            <a:avLst/>
          </a:prstGeom>
          <a:solidFill>
            <a:srgbClr val="0D111A"/>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EAB308"/>
                </a:solidFill>
                <a:latin typeface="Calibri"/>
              </a:defRPr>
            </a:pPr>
            <a:r>
              <a:t>31</a:t>
            </a:r>
          </a:p>
          <a:p>
            <a:pPr algn="ctr">
              <a:defRPr sz="1000">
                <a:solidFill>
                  <a:srgbClr val="8B949E"/>
                </a:solidFill>
                <a:latin typeface="Calibri"/>
              </a:defRPr>
            </a:pPr>
            <a:r>
              <a:t>SoD Violations</a:t>
            </a:r>
          </a:p>
        </p:txBody>
      </p:sp>
      <p:sp>
        <p:nvSpPr>
          <p:cNvPr id="10" name="Rounded Rectangle 9"/>
          <p:cNvSpPr/>
          <p:nvPr/>
        </p:nvSpPr>
        <p:spPr>
          <a:xfrm>
            <a:off x="6400800" y="3474720"/>
            <a:ext cx="2560320" cy="914400"/>
          </a:xfrm>
          <a:prstGeom prst="roundRect">
            <a:avLst/>
          </a:prstGeom>
          <a:solidFill>
            <a:srgbClr val="0D11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3B82F6"/>
                </a:solidFill>
                <a:latin typeface="Calibri"/>
              </a:defRPr>
            </a:pPr>
            <a:r>
              <a:t>12</a:t>
            </a:r>
          </a:p>
          <a:p>
            <a:pPr algn="ctr">
              <a:defRPr sz="1000">
                <a:solidFill>
                  <a:srgbClr val="8B949E"/>
                </a:solidFill>
                <a:latin typeface="Calibri"/>
              </a:defRPr>
            </a:pPr>
            <a:r>
              <a:t>Token Abuse</a:t>
            </a:r>
          </a:p>
        </p:txBody>
      </p:sp>
      <p:sp>
        <p:nvSpPr>
          <p:cNvPr id="11" name="Rounded Rectangle 10"/>
          <p:cNvSpPr/>
          <p:nvPr/>
        </p:nvSpPr>
        <p:spPr>
          <a:xfrm>
            <a:off x="9235440" y="3474720"/>
            <a:ext cx="2560320" cy="914400"/>
          </a:xfrm>
          <a:prstGeom prst="roundRect">
            <a:avLst/>
          </a:prstGeom>
          <a:solidFill>
            <a:srgbClr val="0D111A"/>
          </a:solidFill>
          <a:ln w="1905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E31937"/>
                </a:solidFill>
                <a:latin typeface="Calibri"/>
              </a:defRPr>
            </a:pPr>
            <a:r>
              <a:t>505</a:t>
            </a:r>
          </a:p>
          <a:p>
            <a:pPr algn="ctr">
              <a:defRPr sz="1000">
                <a:solidFill>
                  <a:srgbClr val="8B949E"/>
                </a:solidFill>
                <a:latin typeface="Calibri"/>
              </a:defRPr>
            </a:pPr>
            <a:r>
              <a:t>Total Findings</a:t>
            </a:r>
          </a:p>
        </p:txBody>
      </p:sp>
      <p:sp>
        <p:nvSpPr>
          <p:cNvPr id="12" name="TextBox 11"/>
          <p:cNvSpPr txBox="1"/>
          <p:nvPr/>
        </p:nvSpPr>
        <p:spPr>
          <a:xfrm>
            <a:off x="731520" y="4297680"/>
            <a:ext cx="10058400" cy="274320"/>
          </a:xfrm>
          <a:prstGeom prst="rect">
            <a:avLst/>
          </a:prstGeom>
          <a:noFill/>
        </p:spPr>
        <p:txBody>
          <a:bodyPr wrap="square">
            <a:spAutoFit/>
          </a:bodyPr>
          <a:lstStyle/>
          <a:p>
            <a:pPr algn="l">
              <a:defRPr sz="1400" b="1">
                <a:solidFill>
                  <a:srgbClr val="22C55E"/>
                </a:solidFill>
                <a:latin typeface="Calibri"/>
              </a:defRPr>
            </a:pPr>
            <a:r>
              <a:t>Alert Consolidation: 505 raw signals → 60 actionable incidents = 90.1% noise reduction</a:t>
            </a:r>
          </a:p>
        </p:txBody>
      </p:sp>
      <p:sp>
        <p:nvSpPr>
          <p:cNvPr id="13" name="TextBox 12"/>
          <p:cNvSpPr txBox="1"/>
          <p:nvPr/>
        </p:nvSpPr>
        <p:spPr>
          <a:xfrm>
            <a:off x="731520" y="4663440"/>
            <a:ext cx="10058400" cy="274320"/>
          </a:xfrm>
          <a:prstGeom prst="rect">
            <a:avLst/>
          </a:prstGeom>
          <a:noFill/>
        </p:spPr>
        <p:txBody>
          <a:bodyPr wrap="square">
            <a:spAutoFit/>
          </a:bodyPr>
          <a:lstStyle/>
          <a:p>
            <a:pPr algn="l">
              <a:defRPr sz="1200" b="0">
                <a:solidFill>
                  <a:srgbClr val="8B949E"/>
                </a:solidFill>
                <a:latin typeface="Calibri"/>
              </a:defRPr>
            </a:pPr>
            <a:r>
              <a:t>Exceeds problem statement target of ≥40% reduction by 2.25×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TextBox 1"/>
          <p:cNvSpPr txBox="1"/>
          <p:nvPr/>
        </p:nvSpPr>
        <p:spPr>
          <a:xfrm>
            <a:off x="731520" y="365760"/>
            <a:ext cx="9144000" cy="457200"/>
          </a:xfrm>
          <a:prstGeom prst="rect">
            <a:avLst/>
          </a:prstGeom>
          <a:noFill/>
        </p:spPr>
        <p:txBody>
          <a:bodyPr wrap="square">
            <a:spAutoFit/>
          </a:bodyPr>
          <a:lstStyle/>
          <a:p>
            <a:pPr algn="l">
              <a:defRPr sz="3200" b="1">
                <a:solidFill>
                  <a:srgbClr val="FFFFFF"/>
                </a:solidFill>
                <a:latin typeface="Calibri"/>
              </a:defRPr>
            </a:pPr>
            <a:r>
              <a:t>Attack Path: Live Demo Scenario</a:t>
            </a:r>
          </a:p>
        </p:txBody>
      </p:sp>
      <p:sp>
        <p:nvSpPr>
          <p:cNvPr id="3" name="Rectangle 2"/>
          <p:cNvSpPr/>
          <p:nvPr/>
        </p:nvSpPr>
        <p:spPr>
          <a:xfrm>
            <a:off x="731520" y="822960"/>
            <a:ext cx="18288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9144000" cy="274320"/>
          </a:xfrm>
          <a:prstGeom prst="rect">
            <a:avLst/>
          </a:prstGeom>
          <a:noFill/>
        </p:spPr>
        <p:txBody>
          <a:bodyPr wrap="square">
            <a:spAutoFit/>
          </a:bodyPr>
          <a:lstStyle/>
          <a:p>
            <a:pPr algn="l">
              <a:defRPr sz="1400" b="0">
                <a:solidFill>
                  <a:srgbClr val="E31937"/>
                </a:solidFill>
                <a:latin typeface="Calibri"/>
              </a:defRPr>
            </a:pPr>
            <a:r>
              <a:t>How IdentitySphere detects, explains, and remediates a cross-platform attack</a:t>
            </a:r>
          </a:p>
        </p:txBody>
      </p:sp>
      <p:sp>
        <p:nvSpPr>
          <p:cNvPr id="5" name="Rounded Rectangle 4"/>
          <p:cNvSpPr/>
          <p:nvPr/>
        </p:nvSpPr>
        <p:spPr>
          <a:xfrm>
            <a:off x="548640" y="1463040"/>
            <a:ext cx="2560320" cy="2743200"/>
          </a:xfrm>
          <a:prstGeom prst="roundRect">
            <a:avLst/>
          </a:prstGeom>
          <a:solidFill>
            <a:srgbClr val="0D111A"/>
          </a:solidFill>
          <a:ln w="2540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a:pPr>
            <a:r>
              <a:t>🎯</a:t>
            </a:r>
          </a:p>
          <a:p>
            <a:pPr algn="ctr">
              <a:defRPr sz="1000" b="1">
                <a:solidFill>
                  <a:srgbClr val="8B949E"/>
                </a:solidFill>
                <a:latin typeface="Calibri"/>
              </a:defRPr>
            </a:pPr>
            <a:r>
              <a:t>STEP 1</a:t>
            </a:r>
          </a:p>
          <a:p>
            <a:pPr algn="ctr">
              <a:defRPr sz="1600" b="1">
                <a:solidFill>
                  <a:srgbClr val="E31937"/>
                </a:solidFill>
                <a:latin typeface="Calibri"/>
              </a:defRPr>
            </a:pPr>
            <a:r>
              <a:t>Compromised</a:t>
            </a:r>
            <a:br/>
            <a:r>
              <a:t>Identity</a:t>
            </a:r>
          </a:p>
          <a:p>
            <a:pPr algn="ctr">
              <a:defRPr sz="1200" b="0">
                <a:solidFill>
                  <a:srgbClr val="FFFFFF"/>
                </a:solidFill>
                <a:latin typeface="Calibri"/>
              </a:defRPr>
            </a:pPr>
            <a:r>
              <a:t>Manish Joshi</a:t>
            </a:r>
            <a:br/>
            <a:r>
              <a:t>Okta account</a:t>
            </a:r>
          </a:p>
          <a:p>
            <a:pPr algn="ctr">
              <a:defRPr sz="1100" b="1">
                <a:solidFill>
                  <a:srgbClr val="E31937"/>
                </a:solidFill>
                <a:latin typeface="Calibri"/>
              </a:defRPr>
            </a:pPr>
            <a:r>
              <a:t>T1078</a:t>
            </a:r>
          </a:p>
        </p:txBody>
      </p:sp>
      <p:sp>
        <p:nvSpPr>
          <p:cNvPr id="6" name="Right Arrow 5"/>
          <p:cNvSpPr/>
          <p:nvPr/>
        </p:nvSpPr>
        <p:spPr>
          <a:xfrm>
            <a:off x="3154680" y="2651760"/>
            <a:ext cx="274320" cy="320040"/>
          </a:xfrm>
          <a:prstGeom prst="rightArrow">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29000" y="1463040"/>
            <a:ext cx="2560320" cy="2743200"/>
          </a:xfrm>
          <a:prstGeom prst="roundRect">
            <a:avLst/>
          </a:prstGeom>
          <a:solidFill>
            <a:srgbClr val="0D111A"/>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a:pPr>
            <a:r>
              <a:t>🔀</a:t>
            </a:r>
          </a:p>
          <a:p>
            <a:pPr algn="ctr">
              <a:defRPr sz="1000" b="1">
                <a:solidFill>
                  <a:srgbClr val="8B949E"/>
                </a:solidFill>
                <a:latin typeface="Calibri"/>
              </a:defRPr>
            </a:pPr>
            <a:r>
              <a:t>STEP 2</a:t>
            </a:r>
          </a:p>
          <a:p>
            <a:pPr algn="ctr">
              <a:defRPr sz="1600" b="1">
                <a:solidFill>
                  <a:srgbClr val="F97316"/>
                </a:solidFill>
                <a:latin typeface="Calibri"/>
              </a:defRPr>
            </a:pPr>
            <a:r>
              <a:t>Lateral</a:t>
            </a:r>
            <a:br/>
            <a:r>
              <a:t>Movement</a:t>
            </a:r>
          </a:p>
          <a:p>
            <a:pPr algn="ctr">
              <a:defRPr sz="1200" b="0">
                <a:solidFill>
                  <a:srgbClr val="FFFFFF"/>
                </a:solidFill>
                <a:latin typeface="Calibri"/>
              </a:defRPr>
            </a:pPr>
            <a:r>
              <a:t>Okta → AD → AWS</a:t>
            </a:r>
            <a:br/>
            <a:r>
              <a:t>5 platforms</a:t>
            </a:r>
          </a:p>
          <a:p>
            <a:pPr algn="ctr">
              <a:defRPr sz="1100" b="1">
                <a:solidFill>
                  <a:srgbClr val="F97316"/>
                </a:solidFill>
                <a:latin typeface="Calibri"/>
              </a:defRPr>
            </a:pPr>
            <a:r>
              <a:t>T1550</a:t>
            </a:r>
          </a:p>
        </p:txBody>
      </p:sp>
      <p:sp>
        <p:nvSpPr>
          <p:cNvPr id="8" name="Right Arrow 7"/>
          <p:cNvSpPr/>
          <p:nvPr/>
        </p:nvSpPr>
        <p:spPr>
          <a:xfrm>
            <a:off x="6035040" y="2651760"/>
            <a:ext cx="274320" cy="320040"/>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59" y="1463040"/>
            <a:ext cx="2560320" cy="2743200"/>
          </a:xfrm>
          <a:prstGeom prst="roundRect">
            <a:avLst/>
          </a:prstGeom>
          <a:solidFill>
            <a:srgbClr val="0D111A"/>
          </a:solidFill>
          <a:ln w="2540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a:pPr>
            <a:r>
              <a:t>⚡</a:t>
            </a:r>
          </a:p>
          <a:p>
            <a:pPr algn="ctr">
              <a:defRPr sz="1000" b="1">
                <a:solidFill>
                  <a:srgbClr val="8B949E"/>
                </a:solidFill>
                <a:latin typeface="Calibri"/>
              </a:defRPr>
            </a:pPr>
            <a:r>
              <a:t>STEP 3</a:t>
            </a:r>
          </a:p>
          <a:p>
            <a:pPr algn="ctr">
              <a:defRPr sz="1600" b="1">
                <a:solidFill>
                  <a:srgbClr val="EAB308"/>
                </a:solidFill>
                <a:latin typeface="Calibri"/>
              </a:defRPr>
            </a:pPr>
            <a:r>
              <a:t>Privilege</a:t>
            </a:r>
            <a:br/>
            <a:r>
              <a:t>Escalation</a:t>
            </a:r>
          </a:p>
          <a:p>
            <a:pPr algn="ctr">
              <a:defRPr sz="1200" b="0">
                <a:solidFill>
                  <a:srgbClr val="FFFFFF"/>
                </a:solidFill>
                <a:latin typeface="Calibri"/>
              </a:defRPr>
            </a:pPr>
            <a:r>
              <a:t>Domain Admin</a:t>
            </a:r>
            <a:br/>
            <a:r>
              <a:t>AdministratorAccess</a:t>
            </a:r>
          </a:p>
          <a:p>
            <a:pPr algn="ctr">
              <a:defRPr sz="1100" b="1">
                <a:solidFill>
                  <a:srgbClr val="EAB308"/>
                </a:solidFill>
                <a:latin typeface="Calibri"/>
              </a:defRPr>
            </a:pPr>
            <a:r>
              <a:t>T1098</a:t>
            </a:r>
          </a:p>
        </p:txBody>
      </p:sp>
      <p:sp>
        <p:nvSpPr>
          <p:cNvPr id="10" name="Right Arrow 9"/>
          <p:cNvSpPr/>
          <p:nvPr/>
        </p:nvSpPr>
        <p:spPr>
          <a:xfrm>
            <a:off x="8915400" y="2651760"/>
            <a:ext cx="274320" cy="320040"/>
          </a:xfrm>
          <a:prstGeom prst="rightArrow">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89719" y="1463040"/>
            <a:ext cx="2560320" cy="2743200"/>
          </a:xfrm>
          <a:prstGeom prst="roundRect">
            <a:avLst/>
          </a:prstGeom>
          <a:solidFill>
            <a:srgbClr val="0D111A"/>
          </a:solidFill>
          <a:ln w="2540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a:pPr>
            <a:r>
              <a:t>💀</a:t>
            </a:r>
          </a:p>
          <a:p>
            <a:pPr algn="ctr">
              <a:defRPr sz="1000" b="1">
                <a:solidFill>
                  <a:srgbClr val="8B949E"/>
                </a:solidFill>
                <a:latin typeface="Calibri"/>
              </a:defRPr>
            </a:pPr>
            <a:r>
              <a:t>STEP 4</a:t>
            </a:r>
          </a:p>
          <a:p>
            <a:pPr algn="ctr">
              <a:defRPr sz="1600" b="1">
                <a:solidFill>
                  <a:srgbClr val="E31937"/>
                </a:solidFill>
                <a:latin typeface="Calibri"/>
              </a:defRPr>
            </a:pPr>
            <a:r>
              <a:t>Critical</a:t>
            </a:r>
            <a:br/>
            <a:r>
              <a:t>Resource</a:t>
            </a:r>
          </a:p>
          <a:p>
            <a:pPr algn="ctr">
              <a:defRPr sz="1200" b="0">
                <a:solidFill>
                  <a:srgbClr val="FFFFFF"/>
                </a:solidFill>
                <a:latin typeface="Calibri"/>
              </a:defRPr>
            </a:pPr>
            <a:r>
              <a:t>domain-controller</a:t>
            </a:r>
            <a:br/>
            <a:r>
              <a:t>FULL COMPROMISE</a:t>
            </a:r>
          </a:p>
          <a:p>
            <a:pPr algn="ctr">
              <a:defRPr sz="1100" b="1">
                <a:solidFill>
                  <a:srgbClr val="E31937"/>
                </a:solidFill>
                <a:latin typeface="Calibri"/>
              </a:defRPr>
            </a:pPr>
            <a:r>
              <a:t>Impact</a:t>
            </a:r>
          </a:p>
        </p:txBody>
      </p:sp>
      <p:sp>
        <p:nvSpPr>
          <p:cNvPr id="12" name="TextBox 11"/>
          <p:cNvSpPr txBox="1"/>
          <p:nvPr/>
        </p:nvSpPr>
        <p:spPr>
          <a:xfrm>
            <a:off x="731520" y="4572000"/>
            <a:ext cx="10058400" cy="274320"/>
          </a:xfrm>
          <a:prstGeom prst="rect">
            <a:avLst/>
          </a:prstGeom>
          <a:noFill/>
        </p:spPr>
        <p:txBody>
          <a:bodyPr wrap="square">
            <a:spAutoFit/>
          </a:bodyPr>
          <a:lstStyle/>
          <a:p>
            <a:pPr algn="l">
              <a:defRPr sz="1600" b="1">
                <a:solidFill>
                  <a:srgbClr val="FFFFFF"/>
                </a:solidFill>
                <a:latin typeface="Calibri"/>
              </a:defRPr>
            </a:pPr>
            <a:r>
              <a:t>IdentitySphere Response:</a:t>
            </a:r>
          </a:p>
        </p:txBody>
      </p:sp>
      <p:sp>
        <p:nvSpPr>
          <p:cNvPr id="13" name="TextBox 12"/>
          <p:cNvSpPr txBox="1"/>
          <p:nvPr/>
        </p:nvSpPr>
        <p:spPr>
          <a:xfrm>
            <a:off x="731520" y="4937760"/>
            <a:ext cx="10058400" cy="1371600"/>
          </a:xfrm>
          <a:prstGeom prst="rect">
            <a:avLst/>
          </a:prstGeom>
          <a:noFill/>
        </p:spPr>
        <p:txBody>
          <a:bodyPr wrap="square">
            <a:spAutoFit/>
          </a:bodyPr>
          <a:lstStyle/>
          <a:p>
            <a:pPr>
              <a:spcBef>
                <a:spcPts val="300"/>
              </a:spcBef>
              <a:defRPr sz="1200">
                <a:solidFill>
                  <a:srgbClr val="8B949E"/>
                </a:solidFill>
                <a:latin typeface="Calibri"/>
              </a:defRPr>
            </a:pPr>
            <a:r>
              <a:t>▸  Detected by rule engine + behavioral ML (anomaly score 72/100)</a:t>
            </a:r>
          </a:p>
          <a:p>
            <a:pPr>
              <a:spcBef>
                <a:spcPts val="300"/>
              </a:spcBef>
              <a:defRPr sz="1200">
                <a:solidFill>
                  <a:srgbClr val="8B949E"/>
                </a:solidFill>
                <a:latin typeface="Calibri"/>
              </a:defRPr>
            </a:pPr>
            <a:r>
              <a:t>▸  AI Copilot: evidence-based narrative with MITRE ATT&amp;CK mapping</a:t>
            </a:r>
          </a:p>
          <a:p>
            <a:pPr>
              <a:spcBef>
                <a:spcPts val="300"/>
              </a:spcBef>
              <a:defRPr sz="1200">
                <a:solidFill>
                  <a:srgbClr val="8B949E"/>
                </a:solidFill>
                <a:latin typeface="Calibri"/>
              </a:defRPr>
            </a:pPr>
            <a:r>
              <a:t>▸  Remediation: Revoke AWS Admin, disable AD Domain Admin, enforce Okta MFA</a:t>
            </a:r>
          </a:p>
          <a:p>
            <a:pPr>
              <a:spcBef>
                <a:spcPts val="300"/>
              </a:spcBef>
              <a:defRPr sz="1200">
                <a:solidFill>
                  <a:srgbClr val="8B949E"/>
                </a:solidFill>
                <a:latin typeface="Calibri"/>
              </a:defRPr>
            </a:pPr>
            <a:r>
              <a:t>▸  Blast radius reduced from 14 to 4 resources (71% reduction)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TextBox 1"/>
          <p:cNvSpPr txBox="1"/>
          <p:nvPr/>
        </p:nvSpPr>
        <p:spPr>
          <a:xfrm>
            <a:off x="731520" y="365760"/>
            <a:ext cx="9144000" cy="457200"/>
          </a:xfrm>
          <a:prstGeom prst="rect">
            <a:avLst/>
          </a:prstGeom>
          <a:noFill/>
        </p:spPr>
        <p:txBody>
          <a:bodyPr wrap="square">
            <a:spAutoFit/>
          </a:bodyPr>
          <a:lstStyle/>
          <a:p>
            <a:pPr algn="l">
              <a:defRPr sz="3200" b="1">
                <a:solidFill>
                  <a:srgbClr val="FFFFFF"/>
                </a:solidFill>
                <a:latin typeface="Calibri"/>
              </a:defRPr>
            </a:pPr>
            <a:r>
              <a:t>Why IdentitySphere AI Stands Out</a:t>
            </a:r>
          </a:p>
        </p:txBody>
      </p:sp>
      <p:sp>
        <p:nvSpPr>
          <p:cNvPr id="3" name="Rectangle 2"/>
          <p:cNvSpPr/>
          <p:nvPr/>
        </p:nvSpPr>
        <p:spPr>
          <a:xfrm>
            <a:off x="731520" y="822960"/>
            <a:ext cx="18288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5029200" cy="274320"/>
          </a:xfrm>
          <a:prstGeom prst="rect">
            <a:avLst/>
          </a:prstGeom>
          <a:noFill/>
        </p:spPr>
        <p:txBody>
          <a:bodyPr wrap="square">
            <a:spAutoFit/>
          </a:bodyPr>
          <a:lstStyle/>
          <a:p>
            <a:pPr algn="l">
              <a:defRPr sz="1500" b="1">
                <a:solidFill>
                  <a:srgbClr val="E31937"/>
                </a:solidFill>
                <a:latin typeface="Calibri"/>
              </a:defRPr>
            </a:pPr>
            <a:r>
              <a:t>Cross-Platform Correlation</a:t>
            </a:r>
          </a:p>
        </p:txBody>
      </p:sp>
      <p:sp>
        <p:nvSpPr>
          <p:cNvPr id="5" name="TextBox 4"/>
          <p:cNvSpPr txBox="1"/>
          <p:nvPr/>
        </p:nvSpPr>
        <p:spPr>
          <a:xfrm>
            <a:off x="731520" y="1463040"/>
            <a:ext cx="5029200" cy="457200"/>
          </a:xfrm>
          <a:prstGeom prst="rect">
            <a:avLst/>
          </a:prstGeom>
          <a:noFill/>
        </p:spPr>
        <p:txBody>
          <a:bodyPr wrap="square">
            <a:spAutoFit/>
          </a:bodyPr>
          <a:lstStyle/>
          <a:p>
            <a:pPr algn="l">
              <a:defRPr sz="1200" b="0">
                <a:solidFill>
                  <a:srgbClr val="8B949E"/>
                </a:solidFill>
                <a:latin typeface="Calibri"/>
              </a:defRPr>
            </a:pPr>
            <a:r>
              <a:t>Maps same person across 7 platforms — no other tool does this end-to-end</a:t>
            </a:r>
          </a:p>
        </p:txBody>
      </p:sp>
      <p:sp>
        <p:nvSpPr>
          <p:cNvPr id="6" name="TextBox 5"/>
          <p:cNvSpPr txBox="1"/>
          <p:nvPr/>
        </p:nvSpPr>
        <p:spPr>
          <a:xfrm>
            <a:off x="731520" y="2468880"/>
            <a:ext cx="5029200" cy="274320"/>
          </a:xfrm>
          <a:prstGeom prst="rect">
            <a:avLst/>
          </a:prstGeom>
          <a:noFill/>
        </p:spPr>
        <p:txBody>
          <a:bodyPr wrap="square">
            <a:spAutoFit/>
          </a:bodyPr>
          <a:lstStyle/>
          <a:p>
            <a:pPr algn="l">
              <a:defRPr sz="1500" b="1">
                <a:solidFill>
                  <a:srgbClr val="F97316"/>
                </a:solidFill>
                <a:latin typeface="Calibri"/>
              </a:defRPr>
            </a:pPr>
            <a:r>
              <a:t>Effective Privilege Calculation</a:t>
            </a:r>
          </a:p>
        </p:txBody>
      </p:sp>
      <p:sp>
        <p:nvSpPr>
          <p:cNvPr id="7" name="TextBox 6"/>
          <p:cNvSpPr txBox="1"/>
          <p:nvPr/>
        </p:nvSpPr>
        <p:spPr>
          <a:xfrm>
            <a:off x="731520" y="2743200"/>
            <a:ext cx="5029200" cy="457200"/>
          </a:xfrm>
          <a:prstGeom prst="rect">
            <a:avLst/>
          </a:prstGeom>
          <a:noFill/>
        </p:spPr>
        <p:txBody>
          <a:bodyPr wrap="square">
            <a:spAutoFit/>
          </a:bodyPr>
          <a:lstStyle/>
          <a:p>
            <a:pPr algn="l">
              <a:defRPr sz="1200" b="0">
                <a:solidFill>
                  <a:srgbClr val="8B949E"/>
                </a:solidFill>
                <a:latin typeface="Calibri"/>
              </a:defRPr>
            </a:pPr>
            <a:r>
              <a:t>Traverses nested group inheritance — reveals hidden admin access</a:t>
            </a:r>
          </a:p>
        </p:txBody>
      </p:sp>
      <p:sp>
        <p:nvSpPr>
          <p:cNvPr id="8" name="TextBox 7"/>
          <p:cNvSpPr txBox="1"/>
          <p:nvPr/>
        </p:nvSpPr>
        <p:spPr>
          <a:xfrm>
            <a:off x="731520" y="3749039"/>
            <a:ext cx="5029200" cy="274320"/>
          </a:xfrm>
          <a:prstGeom prst="rect">
            <a:avLst/>
          </a:prstGeom>
          <a:noFill/>
        </p:spPr>
        <p:txBody>
          <a:bodyPr wrap="square">
            <a:spAutoFit/>
          </a:bodyPr>
          <a:lstStyle/>
          <a:p>
            <a:pPr algn="l">
              <a:defRPr sz="1500" b="1">
                <a:solidFill>
                  <a:srgbClr val="22C55E"/>
                </a:solidFill>
                <a:latin typeface="Calibri"/>
              </a:defRPr>
            </a:pPr>
            <a:r>
              <a:t>Behavioral ML (Isolation Forest)</a:t>
            </a:r>
          </a:p>
        </p:txBody>
      </p:sp>
      <p:sp>
        <p:nvSpPr>
          <p:cNvPr id="9" name="TextBox 8"/>
          <p:cNvSpPr txBox="1"/>
          <p:nvPr/>
        </p:nvSpPr>
        <p:spPr>
          <a:xfrm>
            <a:off x="731520" y="4023359"/>
            <a:ext cx="5029200" cy="457200"/>
          </a:xfrm>
          <a:prstGeom prst="rect">
            <a:avLst/>
          </a:prstGeom>
          <a:noFill/>
        </p:spPr>
        <p:txBody>
          <a:bodyPr wrap="square">
            <a:spAutoFit/>
          </a:bodyPr>
          <a:lstStyle/>
          <a:p>
            <a:pPr algn="l">
              <a:defRPr sz="1200" b="0">
                <a:solidFill>
                  <a:srgbClr val="8B949E"/>
                </a:solidFill>
                <a:latin typeface="Calibri"/>
              </a:defRPr>
            </a:pPr>
            <a:r>
              <a:t>Unsupervised anomaly detection — no labeled data needed</a:t>
            </a:r>
          </a:p>
        </p:txBody>
      </p:sp>
      <p:sp>
        <p:nvSpPr>
          <p:cNvPr id="10" name="TextBox 9"/>
          <p:cNvSpPr txBox="1"/>
          <p:nvPr/>
        </p:nvSpPr>
        <p:spPr>
          <a:xfrm>
            <a:off x="731520" y="5029199"/>
            <a:ext cx="5029200" cy="274320"/>
          </a:xfrm>
          <a:prstGeom prst="rect">
            <a:avLst/>
          </a:prstGeom>
          <a:noFill/>
        </p:spPr>
        <p:txBody>
          <a:bodyPr wrap="square">
            <a:spAutoFit/>
          </a:bodyPr>
          <a:lstStyle/>
          <a:p>
            <a:pPr algn="l">
              <a:defRPr sz="1500" b="1">
                <a:solidFill>
                  <a:srgbClr val="3B82F6"/>
                </a:solidFill>
                <a:latin typeface="Calibri"/>
              </a:defRPr>
            </a:pPr>
            <a:r>
              <a:t>Attack Path Graph Analysis</a:t>
            </a:r>
          </a:p>
        </p:txBody>
      </p:sp>
      <p:sp>
        <p:nvSpPr>
          <p:cNvPr id="11" name="TextBox 10"/>
          <p:cNvSpPr txBox="1"/>
          <p:nvPr/>
        </p:nvSpPr>
        <p:spPr>
          <a:xfrm>
            <a:off x="731520" y="5303519"/>
            <a:ext cx="5029200" cy="457200"/>
          </a:xfrm>
          <a:prstGeom prst="rect">
            <a:avLst/>
          </a:prstGeom>
          <a:noFill/>
        </p:spPr>
        <p:txBody>
          <a:bodyPr wrap="square">
            <a:spAutoFit/>
          </a:bodyPr>
          <a:lstStyle/>
          <a:p>
            <a:pPr algn="l">
              <a:defRPr sz="1200" b="0">
                <a:solidFill>
                  <a:srgbClr val="8B949E"/>
                </a:solidFill>
                <a:latin typeface="Calibri"/>
              </a:defRPr>
            </a:pPr>
            <a:r>
              <a:t>NetworkX-based lateral movement and escalation path visualization</a:t>
            </a:r>
          </a:p>
        </p:txBody>
      </p:sp>
      <p:sp>
        <p:nvSpPr>
          <p:cNvPr id="12" name="TextBox 11"/>
          <p:cNvSpPr txBox="1"/>
          <p:nvPr/>
        </p:nvSpPr>
        <p:spPr>
          <a:xfrm>
            <a:off x="6400800" y="1188720"/>
            <a:ext cx="5029200" cy="274320"/>
          </a:xfrm>
          <a:prstGeom prst="rect">
            <a:avLst/>
          </a:prstGeom>
          <a:noFill/>
        </p:spPr>
        <p:txBody>
          <a:bodyPr wrap="square">
            <a:spAutoFit/>
          </a:bodyPr>
          <a:lstStyle/>
          <a:p>
            <a:pPr algn="l">
              <a:defRPr sz="1500" b="1">
                <a:solidFill>
                  <a:srgbClr val="EAB308"/>
                </a:solidFill>
                <a:latin typeface="Calibri"/>
              </a:defRPr>
            </a:pPr>
            <a:r>
              <a:t>Blast Radius Simulation</a:t>
            </a:r>
          </a:p>
        </p:txBody>
      </p:sp>
      <p:sp>
        <p:nvSpPr>
          <p:cNvPr id="13" name="TextBox 12"/>
          <p:cNvSpPr txBox="1"/>
          <p:nvPr/>
        </p:nvSpPr>
        <p:spPr>
          <a:xfrm>
            <a:off x="6400800" y="1463040"/>
            <a:ext cx="5029200" cy="457200"/>
          </a:xfrm>
          <a:prstGeom prst="rect">
            <a:avLst/>
          </a:prstGeom>
          <a:noFill/>
        </p:spPr>
        <p:txBody>
          <a:bodyPr wrap="square">
            <a:spAutoFit/>
          </a:bodyPr>
          <a:lstStyle/>
          <a:p>
            <a:pPr algn="l">
              <a:defRPr sz="1200" b="0">
                <a:solidFill>
                  <a:srgbClr val="8B949E"/>
                </a:solidFill>
                <a:latin typeface="Calibri"/>
              </a:defRPr>
            </a:pPr>
            <a:r>
              <a:t>What-if: revoke one role → see exact risk reduction</a:t>
            </a:r>
          </a:p>
        </p:txBody>
      </p:sp>
      <p:sp>
        <p:nvSpPr>
          <p:cNvPr id="14" name="TextBox 13"/>
          <p:cNvSpPr txBox="1"/>
          <p:nvPr/>
        </p:nvSpPr>
        <p:spPr>
          <a:xfrm>
            <a:off x="6400800" y="2468880"/>
            <a:ext cx="5029200" cy="274320"/>
          </a:xfrm>
          <a:prstGeom prst="rect">
            <a:avLst/>
          </a:prstGeom>
          <a:noFill/>
        </p:spPr>
        <p:txBody>
          <a:bodyPr wrap="square">
            <a:spAutoFit/>
          </a:bodyPr>
          <a:lstStyle/>
          <a:p>
            <a:pPr algn="l">
              <a:defRPr sz="1500" b="1">
                <a:solidFill>
                  <a:srgbClr val="E31937"/>
                </a:solidFill>
                <a:latin typeface="Calibri"/>
              </a:defRPr>
            </a:pPr>
            <a:r>
              <a:t>AI-Powered Remediation</a:t>
            </a:r>
          </a:p>
        </p:txBody>
      </p:sp>
      <p:sp>
        <p:nvSpPr>
          <p:cNvPr id="15" name="TextBox 14"/>
          <p:cNvSpPr txBox="1"/>
          <p:nvPr/>
        </p:nvSpPr>
        <p:spPr>
          <a:xfrm>
            <a:off x="6400800" y="2743200"/>
            <a:ext cx="5029200" cy="457200"/>
          </a:xfrm>
          <a:prstGeom prst="rect">
            <a:avLst/>
          </a:prstGeom>
          <a:noFill/>
        </p:spPr>
        <p:txBody>
          <a:bodyPr wrap="square">
            <a:spAutoFit/>
          </a:bodyPr>
          <a:lstStyle/>
          <a:p>
            <a:pPr algn="l">
              <a:defRPr sz="1200" b="0">
                <a:solidFill>
                  <a:srgbClr val="8B949E"/>
                </a:solidFill>
                <a:latin typeface="Calibri"/>
              </a:defRPr>
            </a:pPr>
            <a:r>
              <a:t>Evidence-based, platform-specific remediation steps</a:t>
            </a:r>
          </a:p>
        </p:txBody>
      </p:sp>
      <p:sp>
        <p:nvSpPr>
          <p:cNvPr id="16" name="TextBox 15"/>
          <p:cNvSpPr txBox="1"/>
          <p:nvPr/>
        </p:nvSpPr>
        <p:spPr>
          <a:xfrm>
            <a:off x="6400800" y="3749039"/>
            <a:ext cx="5029200" cy="274320"/>
          </a:xfrm>
          <a:prstGeom prst="rect">
            <a:avLst/>
          </a:prstGeom>
          <a:noFill/>
        </p:spPr>
        <p:txBody>
          <a:bodyPr wrap="square">
            <a:spAutoFit/>
          </a:bodyPr>
          <a:lstStyle/>
          <a:p>
            <a:pPr algn="l">
              <a:defRPr sz="1500" b="1">
                <a:solidFill>
                  <a:srgbClr val="22C55E"/>
                </a:solidFill>
                <a:latin typeface="Calibri"/>
              </a:defRPr>
            </a:pPr>
            <a:r>
              <a:t>90.1% Alert Reduction</a:t>
            </a:r>
          </a:p>
        </p:txBody>
      </p:sp>
      <p:sp>
        <p:nvSpPr>
          <p:cNvPr id="17" name="TextBox 16"/>
          <p:cNvSpPr txBox="1"/>
          <p:nvPr/>
        </p:nvSpPr>
        <p:spPr>
          <a:xfrm>
            <a:off x="6400800" y="4023359"/>
            <a:ext cx="5029200" cy="457200"/>
          </a:xfrm>
          <a:prstGeom prst="rect">
            <a:avLst/>
          </a:prstGeom>
          <a:noFill/>
        </p:spPr>
        <p:txBody>
          <a:bodyPr wrap="square">
            <a:spAutoFit/>
          </a:bodyPr>
          <a:lstStyle/>
          <a:p>
            <a:pPr algn="l">
              <a:defRPr sz="1200" b="0">
                <a:solidFill>
                  <a:srgbClr val="8B949E"/>
                </a:solidFill>
                <a:latin typeface="Calibri"/>
              </a:defRPr>
            </a:pPr>
            <a:r>
              <a:t>505 signals → 60 incidents — 2.25× the 40% target</a:t>
            </a:r>
          </a:p>
        </p:txBody>
      </p:sp>
      <p:sp>
        <p:nvSpPr>
          <p:cNvPr id="18" name="TextBox 17"/>
          <p:cNvSpPr txBox="1"/>
          <p:nvPr/>
        </p:nvSpPr>
        <p:spPr>
          <a:xfrm>
            <a:off x="6400800" y="5029199"/>
            <a:ext cx="5029200" cy="274320"/>
          </a:xfrm>
          <a:prstGeom prst="rect">
            <a:avLst/>
          </a:prstGeom>
          <a:noFill/>
        </p:spPr>
        <p:txBody>
          <a:bodyPr wrap="square">
            <a:spAutoFit/>
          </a:bodyPr>
          <a:lstStyle/>
          <a:p>
            <a:pPr algn="l">
              <a:defRPr sz="1500" b="1">
                <a:solidFill>
                  <a:srgbClr val="3B82F6"/>
                </a:solidFill>
                <a:latin typeface="Calibri"/>
              </a:defRPr>
            </a:pPr>
            <a:r>
              <a:t>Full Compliance Mapping</a:t>
            </a:r>
          </a:p>
        </p:txBody>
      </p:sp>
      <p:sp>
        <p:nvSpPr>
          <p:cNvPr id="19" name="TextBox 18"/>
          <p:cNvSpPr txBox="1"/>
          <p:nvPr/>
        </p:nvSpPr>
        <p:spPr>
          <a:xfrm>
            <a:off x="6400800" y="5303519"/>
            <a:ext cx="5029200" cy="457200"/>
          </a:xfrm>
          <a:prstGeom prst="rect">
            <a:avLst/>
          </a:prstGeom>
          <a:noFill/>
        </p:spPr>
        <p:txBody>
          <a:bodyPr wrap="square">
            <a:spAutoFit/>
          </a:bodyPr>
          <a:lstStyle/>
          <a:p>
            <a:pPr algn="l">
              <a:defRPr sz="1200" b="0">
                <a:solidFill>
                  <a:srgbClr val="8B949E"/>
                </a:solidFill>
                <a:latin typeface="Calibri"/>
              </a:defRPr>
            </a:pPr>
            <a:r>
              <a:t>Auto-maps to NIST 800-53 · MITRE ATT&amp;CK · GDPR · CIS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TextBox 1"/>
          <p:cNvSpPr txBox="1"/>
          <p:nvPr/>
        </p:nvSpPr>
        <p:spPr>
          <a:xfrm>
            <a:off x="731520" y="365760"/>
            <a:ext cx="9144000" cy="457200"/>
          </a:xfrm>
          <a:prstGeom prst="rect">
            <a:avLst/>
          </a:prstGeom>
          <a:noFill/>
        </p:spPr>
        <p:txBody>
          <a:bodyPr wrap="square">
            <a:spAutoFit/>
          </a:bodyPr>
          <a:lstStyle/>
          <a:p>
            <a:pPr algn="l">
              <a:defRPr sz="3200" b="1">
                <a:solidFill>
                  <a:srgbClr val="FFFFFF"/>
                </a:solidFill>
                <a:latin typeface="Calibri"/>
              </a:defRPr>
            </a:pPr>
            <a:r>
              <a:t>Results &amp; Impact</a:t>
            </a:r>
          </a:p>
        </p:txBody>
      </p:sp>
      <p:sp>
        <p:nvSpPr>
          <p:cNvPr id="3" name="Rectangle 2"/>
          <p:cNvSpPr/>
          <p:nvPr/>
        </p:nvSpPr>
        <p:spPr>
          <a:xfrm>
            <a:off x="731520" y="822960"/>
            <a:ext cx="18288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097280"/>
            <a:ext cx="2011680" cy="1188720"/>
          </a:xfrm>
          <a:prstGeom prst="roundRect">
            <a:avLst/>
          </a:prstGeom>
          <a:solidFill>
            <a:srgbClr val="0D111A"/>
          </a:solidFill>
          <a:ln w="1905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E31937"/>
                </a:solidFill>
                <a:latin typeface="Calibri"/>
              </a:defRPr>
            </a:pPr>
            <a:r>
              <a:t>370</a:t>
            </a:r>
          </a:p>
          <a:p>
            <a:pPr algn="ctr">
              <a:defRPr sz="1000">
                <a:solidFill>
                  <a:srgbClr val="8B949E"/>
                </a:solidFill>
                <a:latin typeface="Calibri"/>
              </a:defRPr>
            </a:pPr>
            <a:r>
              <a:t>Identities</a:t>
            </a:r>
            <a:br/>
            <a:r>
              <a:t>Analyzed</a:t>
            </a:r>
          </a:p>
        </p:txBody>
      </p:sp>
      <p:sp>
        <p:nvSpPr>
          <p:cNvPr id="5" name="Rounded Rectangle 4"/>
          <p:cNvSpPr/>
          <p:nvPr/>
        </p:nvSpPr>
        <p:spPr>
          <a:xfrm>
            <a:off x="2834640" y="1097280"/>
            <a:ext cx="2011680" cy="1188720"/>
          </a:xfrm>
          <a:prstGeom prst="roundRect">
            <a:avLst/>
          </a:prstGeom>
          <a:solidFill>
            <a:srgbClr val="0D11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3B82F6"/>
                </a:solidFill>
                <a:latin typeface="Calibri"/>
              </a:defRPr>
            </a:pPr>
            <a:r>
              <a:t>7</a:t>
            </a:r>
          </a:p>
          <a:p>
            <a:pPr algn="ctr">
              <a:defRPr sz="1000">
                <a:solidFill>
                  <a:srgbClr val="8B949E"/>
                </a:solidFill>
                <a:latin typeface="Calibri"/>
              </a:defRPr>
            </a:pPr>
            <a:r>
              <a:t>Platforms</a:t>
            </a:r>
            <a:br/>
            <a:r>
              <a:t>Correlated</a:t>
            </a:r>
          </a:p>
        </p:txBody>
      </p:sp>
      <p:sp>
        <p:nvSpPr>
          <p:cNvPr id="6" name="Rounded Rectangle 5"/>
          <p:cNvSpPr/>
          <p:nvPr/>
        </p:nvSpPr>
        <p:spPr>
          <a:xfrm>
            <a:off x="5120640" y="1097280"/>
            <a:ext cx="2011680" cy="1188720"/>
          </a:xfrm>
          <a:prstGeom prst="roundRect">
            <a:avLst/>
          </a:prstGeom>
          <a:solidFill>
            <a:srgbClr val="0D111A"/>
          </a:solidFill>
          <a:ln w="1905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E31937"/>
                </a:solidFill>
                <a:latin typeface="Calibri"/>
              </a:defRPr>
            </a:pPr>
            <a:r>
              <a:t>505</a:t>
            </a:r>
          </a:p>
          <a:p>
            <a:pPr algn="ctr">
              <a:defRPr sz="1000">
                <a:solidFill>
                  <a:srgbClr val="8B949E"/>
                </a:solidFill>
                <a:latin typeface="Calibri"/>
              </a:defRPr>
            </a:pPr>
            <a:r>
              <a:t>Risk Events</a:t>
            </a:r>
            <a:br/>
            <a:r>
              <a:t>Detected</a:t>
            </a:r>
          </a:p>
        </p:txBody>
      </p:sp>
      <p:sp>
        <p:nvSpPr>
          <p:cNvPr id="7" name="Rounded Rectangle 6"/>
          <p:cNvSpPr/>
          <p:nvPr/>
        </p:nvSpPr>
        <p:spPr>
          <a:xfrm>
            <a:off x="7406640" y="1097280"/>
            <a:ext cx="2011680" cy="1188720"/>
          </a:xfrm>
          <a:prstGeom prst="roundRect">
            <a:avLst/>
          </a:prstGeom>
          <a:solidFill>
            <a:srgbClr val="0D11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22C55E"/>
                </a:solidFill>
                <a:latin typeface="Calibri"/>
              </a:defRPr>
            </a:pPr>
            <a:r>
              <a:t>90.1%</a:t>
            </a:r>
          </a:p>
          <a:p>
            <a:pPr algn="ctr">
              <a:defRPr sz="1000">
                <a:solidFill>
                  <a:srgbClr val="8B949E"/>
                </a:solidFill>
                <a:latin typeface="Calibri"/>
              </a:defRPr>
            </a:pPr>
            <a:r>
              <a:t>Alert</a:t>
            </a:r>
            <a:br/>
            <a:r>
              <a:t>Reduction</a:t>
            </a:r>
          </a:p>
        </p:txBody>
      </p:sp>
      <p:sp>
        <p:nvSpPr>
          <p:cNvPr id="8" name="Rounded Rectangle 7"/>
          <p:cNvSpPr/>
          <p:nvPr/>
        </p:nvSpPr>
        <p:spPr>
          <a:xfrm>
            <a:off x="9692640" y="1097280"/>
            <a:ext cx="2011680" cy="1188720"/>
          </a:xfrm>
          <a:prstGeom prst="roundRect">
            <a:avLst/>
          </a:prstGeom>
          <a:solidFill>
            <a:srgbClr val="0D11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22C55E"/>
                </a:solidFill>
                <a:latin typeface="Calibri"/>
              </a:defRPr>
            </a:pPr>
            <a:r>
              <a:t>100%</a:t>
            </a:r>
          </a:p>
          <a:p>
            <a:pPr algn="ctr">
              <a:defRPr sz="1000">
                <a:solidFill>
                  <a:srgbClr val="8B949E"/>
                </a:solidFill>
                <a:latin typeface="Calibri"/>
              </a:defRPr>
            </a:pPr>
            <a:r>
              <a:t>Identity</a:t>
            </a:r>
            <a:br/>
            <a:r>
              <a:t>Coverage</a:t>
            </a:r>
          </a:p>
        </p:txBody>
      </p:sp>
      <p:sp>
        <p:nvSpPr>
          <p:cNvPr id="9" name="TextBox 8"/>
          <p:cNvSpPr txBox="1"/>
          <p:nvPr/>
        </p:nvSpPr>
        <p:spPr>
          <a:xfrm>
            <a:off x="731520" y="2743200"/>
            <a:ext cx="5486400" cy="365760"/>
          </a:xfrm>
          <a:prstGeom prst="rect">
            <a:avLst/>
          </a:prstGeom>
          <a:noFill/>
        </p:spPr>
        <p:txBody>
          <a:bodyPr wrap="square">
            <a:spAutoFit/>
          </a:bodyPr>
          <a:lstStyle/>
          <a:p>
            <a:pPr algn="l">
              <a:defRPr sz="2000" b="1">
                <a:solidFill>
                  <a:srgbClr val="22C55E"/>
                </a:solidFill>
                <a:latin typeface="Calibri"/>
              </a:defRPr>
            </a:pPr>
            <a:r>
              <a:t>All 5 Success Criteria Met ✓</a:t>
            </a:r>
          </a:p>
        </p:txBody>
      </p:sp>
      <p:sp>
        <p:nvSpPr>
          <p:cNvPr id="10" name="TextBox 9"/>
          <p:cNvSpPr txBox="1"/>
          <p:nvPr/>
        </p:nvSpPr>
        <p:spPr>
          <a:xfrm>
            <a:off x="731520" y="3200400"/>
            <a:ext cx="3657600" cy="274320"/>
          </a:xfrm>
          <a:prstGeom prst="rect">
            <a:avLst/>
          </a:prstGeom>
          <a:noFill/>
        </p:spPr>
        <p:txBody>
          <a:bodyPr wrap="square">
            <a:spAutoFit/>
          </a:bodyPr>
          <a:lstStyle/>
          <a:p>
            <a:pPr algn="l">
              <a:defRPr sz="1300" b="0">
                <a:solidFill>
                  <a:srgbClr val="8B949E"/>
                </a:solidFill>
                <a:latin typeface="Calibri"/>
              </a:defRPr>
            </a:pPr>
            <a:r>
              <a:t>Identity Coverage ≥95%</a:t>
            </a:r>
          </a:p>
        </p:txBody>
      </p:sp>
      <p:sp>
        <p:nvSpPr>
          <p:cNvPr id="11" name="TextBox 10"/>
          <p:cNvSpPr txBox="1"/>
          <p:nvPr/>
        </p:nvSpPr>
        <p:spPr>
          <a:xfrm>
            <a:off x="4572000" y="3200400"/>
            <a:ext cx="1828800" cy="274320"/>
          </a:xfrm>
          <a:prstGeom prst="rect">
            <a:avLst/>
          </a:prstGeom>
          <a:noFill/>
        </p:spPr>
        <p:txBody>
          <a:bodyPr wrap="square">
            <a:spAutoFit/>
          </a:bodyPr>
          <a:lstStyle/>
          <a:p>
            <a:pPr algn="l">
              <a:defRPr sz="1300" b="1">
                <a:solidFill>
                  <a:srgbClr val="22C55E"/>
                </a:solidFill>
                <a:latin typeface="Calibri"/>
              </a:defRPr>
            </a:pPr>
            <a:r>
              <a:t>100%</a:t>
            </a:r>
          </a:p>
        </p:txBody>
      </p:sp>
      <p:sp>
        <p:nvSpPr>
          <p:cNvPr id="12" name="TextBox 11"/>
          <p:cNvSpPr txBox="1"/>
          <p:nvPr/>
        </p:nvSpPr>
        <p:spPr>
          <a:xfrm>
            <a:off x="731520" y="3611880"/>
            <a:ext cx="3657600" cy="274320"/>
          </a:xfrm>
          <a:prstGeom prst="rect">
            <a:avLst/>
          </a:prstGeom>
          <a:noFill/>
        </p:spPr>
        <p:txBody>
          <a:bodyPr wrap="square">
            <a:spAutoFit/>
          </a:bodyPr>
          <a:lstStyle/>
          <a:p>
            <a:pPr algn="l">
              <a:defRPr sz="1300" b="0">
                <a:solidFill>
                  <a:srgbClr val="8B949E"/>
                </a:solidFill>
                <a:latin typeface="Calibri"/>
              </a:defRPr>
            </a:pPr>
            <a:r>
              <a:t>Risk Scenarios Identified</a:t>
            </a:r>
          </a:p>
        </p:txBody>
      </p:sp>
      <p:sp>
        <p:nvSpPr>
          <p:cNvPr id="13" name="TextBox 12"/>
          <p:cNvSpPr txBox="1"/>
          <p:nvPr/>
        </p:nvSpPr>
        <p:spPr>
          <a:xfrm>
            <a:off x="4572000" y="3611880"/>
            <a:ext cx="1828800" cy="274320"/>
          </a:xfrm>
          <a:prstGeom prst="rect">
            <a:avLst/>
          </a:prstGeom>
          <a:noFill/>
        </p:spPr>
        <p:txBody>
          <a:bodyPr wrap="square">
            <a:spAutoFit/>
          </a:bodyPr>
          <a:lstStyle/>
          <a:p>
            <a:pPr algn="l">
              <a:defRPr sz="1300" b="1">
                <a:solidFill>
                  <a:srgbClr val="22C55E"/>
                </a:solidFill>
                <a:latin typeface="Calibri"/>
              </a:defRPr>
            </a:pPr>
            <a:r>
              <a:t>8 risk types</a:t>
            </a:r>
          </a:p>
        </p:txBody>
      </p:sp>
      <p:sp>
        <p:nvSpPr>
          <p:cNvPr id="14" name="TextBox 13"/>
          <p:cNvSpPr txBox="1"/>
          <p:nvPr/>
        </p:nvSpPr>
        <p:spPr>
          <a:xfrm>
            <a:off x="731520" y="4023360"/>
            <a:ext cx="3657600" cy="274320"/>
          </a:xfrm>
          <a:prstGeom prst="rect">
            <a:avLst/>
          </a:prstGeom>
          <a:noFill/>
        </p:spPr>
        <p:txBody>
          <a:bodyPr wrap="square">
            <a:spAutoFit/>
          </a:bodyPr>
          <a:lstStyle/>
          <a:p>
            <a:pPr algn="l">
              <a:defRPr sz="1300" b="0">
                <a:solidFill>
                  <a:srgbClr val="8B949E"/>
                </a:solidFill>
                <a:latin typeface="Calibri"/>
              </a:defRPr>
            </a:pPr>
            <a:r>
              <a:t>Alert Consolidation ≥40%</a:t>
            </a:r>
          </a:p>
        </p:txBody>
      </p:sp>
      <p:sp>
        <p:nvSpPr>
          <p:cNvPr id="15" name="TextBox 14"/>
          <p:cNvSpPr txBox="1"/>
          <p:nvPr/>
        </p:nvSpPr>
        <p:spPr>
          <a:xfrm>
            <a:off x="4572000" y="4023360"/>
            <a:ext cx="1828800" cy="274320"/>
          </a:xfrm>
          <a:prstGeom prst="rect">
            <a:avLst/>
          </a:prstGeom>
          <a:noFill/>
        </p:spPr>
        <p:txBody>
          <a:bodyPr wrap="square">
            <a:spAutoFit/>
          </a:bodyPr>
          <a:lstStyle/>
          <a:p>
            <a:pPr algn="l">
              <a:defRPr sz="1300" b="1">
                <a:solidFill>
                  <a:srgbClr val="22C55E"/>
                </a:solidFill>
                <a:latin typeface="Calibri"/>
              </a:defRPr>
            </a:pPr>
            <a:r>
              <a:t>90.1%</a:t>
            </a:r>
          </a:p>
        </p:txBody>
      </p:sp>
      <p:sp>
        <p:nvSpPr>
          <p:cNvPr id="16" name="TextBox 15"/>
          <p:cNvSpPr txBox="1"/>
          <p:nvPr/>
        </p:nvSpPr>
        <p:spPr>
          <a:xfrm>
            <a:off x="731520" y="4434840"/>
            <a:ext cx="3657600" cy="274320"/>
          </a:xfrm>
          <a:prstGeom prst="rect">
            <a:avLst/>
          </a:prstGeom>
          <a:noFill/>
        </p:spPr>
        <p:txBody>
          <a:bodyPr wrap="square">
            <a:spAutoFit/>
          </a:bodyPr>
          <a:lstStyle/>
          <a:p>
            <a:pPr algn="l">
              <a:defRPr sz="1300" b="0">
                <a:solidFill>
                  <a:srgbClr val="8B949E"/>
                </a:solidFill>
                <a:latin typeface="Calibri"/>
              </a:defRPr>
            </a:pPr>
            <a:r>
              <a:t>Risk Explainability</a:t>
            </a:r>
          </a:p>
        </p:txBody>
      </p:sp>
      <p:sp>
        <p:nvSpPr>
          <p:cNvPr id="17" name="TextBox 16"/>
          <p:cNvSpPr txBox="1"/>
          <p:nvPr/>
        </p:nvSpPr>
        <p:spPr>
          <a:xfrm>
            <a:off x="4572000" y="4434840"/>
            <a:ext cx="1828800" cy="274320"/>
          </a:xfrm>
          <a:prstGeom prst="rect">
            <a:avLst/>
          </a:prstGeom>
          <a:noFill/>
        </p:spPr>
        <p:txBody>
          <a:bodyPr wrap="square">
            <a:spAutoFit/>
          </a:bodyPr>
          <a:lstStyle/>
          <a:p>
            <a:pPr algn="l">
              <a:defRPr sz="1300" b="1">
                <a:solidFill>
                  <a:srgbClr val="22C55E"/>
                </a:solidFill>
                <a:latin typeface="Calibri"/>
              </a:defRPr>
            </a:pPr>
            <a:r>
              <a:t>5-factor breakdown</a:t>
            </a:r>
          </a:p>
        </p:txBody>
      </p:sp>
      <p:sp>
        <p:nvSpPr>
          <p:cNvPr id="18" name="TextBox 17"/>
          <p:cNvSpPr txBox="1"/>
          <p:nvPr/>
        </p:nvSpPr>
        <p:spPr>
          <a:xfrm>
            <a:off x="731520" y="4846320"/>
            <a:ext cx="3657600" cy="274320"/>
          </a:xfrm>
          <a:prstGeom prst="rect">
            <a:avLst/>
          </a:prstGeom>
          <a:noFill/>
        </p:spPr>
        <p:txBody>
          <a:bodyPr wrap="square">
            <a:spAutoFit/>
          </a:bodyPr>
          <a:lstStyle/>
          <a:p>
            <a:pPr algn="l">
              <a:defRPr sz="1300" b="0">
                <a:solidFill>
                  <a:srgbClr val="8B949E"/>
                </a:solidFill>
                <a:latin typeface="Calibri"/>
              </a:defRPr>
            </a:pPr>
            <a:r>
              <a:t>Governance Readiness</a:t>
            </a:r>
          </a:p>
        </p:txBody>
      </p:sp>
      <p:sp>
        <p:nvSpPr>
          <p:cNvPr id="19" name="TextBox 18"/>
          <p:cNvSpPr txBox="1"/>
          <p:nvPr/>
        </p:nvSpPr>
        <p:spPr>
          <a:xfrm>
            <a:off x="4572000" y="4846320"/>
            <a:ext cx="1828800" cy="274320"/>
          </a:xfrm>
          <a:prstGeom prst="rect">
            <a:avLst/>
          </a:prstGeom>
          <a:noFill/>
        </p:spPr>
        <p:txBody>
          <a:bodyPr wrap="square">
            <a:spAutoFit/>
          </a:bodyPr>
          <a:lstStyle/>
          <a:p>
            <a:pPr algn="l">
              <a:defRPr sz="1300" b="1">
                <a:solidFill>
                  <a:srgbClr val="22C55E"/>
                </a:solidFill>
                <a:latin typeface="Calibri"/>
              </a:defRPr>
            </a:pPr>
            <a:r>
              <a:t>9 compliance mappings</a:t>
            </a:r>
          </a:p>
        </p:txBody>
      </p:sp>
      <p:sp>
        <p:nvSpPr>
          <p:cNvPr id="20" name="TextBox 19"/>
          <p:cNvSpPr txBox="1"/>
          <p:nvPr/>
        </p:nvSpPr>
        <p:spPr>
          <a:xfrm>
            <a:off x="6858000" y="2743200"/>
            <a:ext cx="4572000" cy="365760"/>
          </a:xfrm>
          <a:prstGeom prst="rect">
            <a:avLst/>
          </a:prstGeom>
          <a:noFill/>
        </p:spPr>
        <p:txBody>
          <a:bodyPr wrap="square">
            <a:spAutoFit/>
          </a:bodyPr>
          <a:lstStyle/>
          <a:p>
            <a:pPr algn="l">
              <a:defRPr sz="2000" b="1">
                <a:solidFill>
                  <a:srgbClr val="22C55E"/>
                </a:solidFill>
                <a:latin typeface="Calibri"/>
              </a:defRPr>
            </a:pPr>
            <a:r>
              <a:t>All 7 Deliverables Complete ✓</a:t>
            </a:r>
          </a:p>
        </p:txBody>
      </p:sp>
      <p:sp>
        <p:nvSpPr>
          <p:cNvPr id="21" name="TextBox 20"/>
          <p:cNvSpPr txBox="1"/>
          <p:nvPr/>
        </p:nvSpPr>
        <p:spPr>
          <a:xfrm>
            <a:off x="6858000" y="3200400"/>
            <a:ext cx="5029200" cy="2743200"/>
          </a:xfrm>
          <a:prstGeom prst="rect">
            <a:avLst/>
          </a:prstGeom>
          <a:noFill/>
        </p:spPr>
        <p:txBody>
          <a:bodyPr wrap="square">
            <a:spAutoFit/>
          </a:bodyPr>
          <a:lstStyle/>
          <a:p>
            <a:pPr>
              <a:spcBef>
                <a:spcPts val="300"/>
              </a:spcBef>
              <a:defRPr sz="1200">
                <a:solidFill>
                  <a:srgbClr val="8B949E"/>
                </a:solidFill>
                <a:latin typeface="Calibri"/>
              </a:defRPr>
            </a:pPr>
            <a:r>
              <a:t>▸  Working prototype with simulated data</a:t>
            </a:r>
          </a:p>
          <a:p>
            <a:pPr>
              <a:spcBef>
                <a:spcPts val="300"/>
              </a:spcBef>
              <a:defRPr sz="1200">
                <a:solidFill>
                  <a:srgbClr val="8B949E"/>
                </a:solidFill>
                <a:latin typeface="Calibri"/>
              </a:defRPr>
            </a:pPr>
            <a:r>
              <a:t>▸  Cross-platform identity resolver</a:t>
            </a:r>
          </a:p>
          <a:p>
            <a:pPr>
              <a:spcBef>
                <a:spcPts val="300"/>
              </a:spcBef>
              <a:defRPr sz="1200">
                <a:solidFill>
                  <a:srgbClr val="8B949E"/>
                </a:solidFill>
                <a:latin typeface="Calibri"/>
              </a:defRPr>
            </a:pPr>
            <a:r>
              <a:t>▸  Effective privilege calculator</a:t>
            </a:r>
          </a:p>
          <a:p>
            <a:pPr>
              <a:spcBef>
                <a:spcPts val="300"/>
              </a:spcBef>
              <a:defRPr sz="1200">
                <a:solidFill>
                  <a:srgbClr val="8B949E"/>
                </a:solidFill>
                <a:latin typeface="Calibri"/>
              </a:defRPr>
            </a:pPr>
            <a:r>
              <a:t>▸  Risk scoring with explainable breakdown</a:t>
            </a:r>
          </a:p>
          <a:p>
            <a:pPr>
              <a:spcBef>
                <a:spcPts val="300"/>
              </a:spcBef>
              <a:defRPr sz="1200">
                <a:solidFill>
                  <a:srgbClr val="8B949E"/>
                </a:solidFill>
                <a:latin typeface="Calibri"/>
              </a:defRPr>
            </a:pPr>
            <a:r>
              <a:t>▸  Dashboard with risk list, privileges, incidents</a:t>
            </a:r>
          </a:p>
          <a:p>
            <a:pPr>
              <a:spcBef>
                <a:spcPts val="300"/>
              </a:spcBef>
              <a:defRPr sz="1200">
                <a:solidFill>
                  <a:srgbClr val="8B949E"/>
                </a:solidFill>
                <a:latin typeface="Calibri"/>
              </a:defRPr>
            </a:pPr>
            <a:r>
              <a:t>▸  Architecture documentation (ARCHITECTURE.md)</a:t>
            </a:r>
          </a:p>
          <a:p>
            <a:pPr>
              <a:spcBef>
                <a:spcPts val="300"/>
              </a:spcBef>
              <a:defRPr sz="1200">
                <a:solidFill>
                  <a:srgbClr val="8B949E"/>
                </a:solidFill>
                <a:latin typeface="Calibri"/>
              </a:defRPr>
            </a:pPr>
            <a:r>
              <a:t>▸  Sample risk report with 10 risky identities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TextBox 1"/>
          <p:cNvSpPr txBox="1"/>
          <p:nvPr/>
        </p:nvSpPr>
        <p:spPr>
          <a:xfrm>
            <a:off x="731520" y="365760"/>
            <a:ext cx="9144000" cy="457200"/>
          </a:xfrm>
          <a:prstGeom prst="rect">
            <a:avLst/>
          </a:prstGeom>
          <a:noFill/>
        </p:spPr>
        <p:txBody>
          <a:bodyPr wrap="square">
            <a:spAutoFit/>
          </a:bodyPr>
          <a:lstStyle/>
          <a:p>
            <a:pPr algn="l">
              <a:defRPr sz="3200" b="1">
                <a:solidFill>
                  <a:srgbClr val="FFFFFF"/>
                </a:solidFill>
                <a:latin typeface="Calibri"/>
              </a:defRPr>
            </a:pPr>
            <a:r>
              <a:t>Compliance &amp; Framework Alignment</a:t>
            </a:r>
          </a:p>
        </p:txBody>
      </p:sp>
      <p:sp>
        <p:nvSpPr>
          <p:cNvPr id="3" name="Rectangle 2"/>
          <p:cNvSpPr/>
          <p:nvPr/>
        </p:nvSpPr>
        <p:spPr>
          <a:xfrm>
            <a:off x="731520" y="822960"/>
            <a:ext cx="18288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5029200" cy="365760"/>
          </a:xfrm>
          <a:prstGeom prst="rect">
            <a:avLst/>
          </a:prstGeom>
          <a:noFill/>
        </p:spPr>
        <p:txBody>
          <a:bodyPr wrap="square">
            <a:spAutoFit/>
          </a:bodyPr>
          <a:lstStyle/>
          <a:p>
            <a:pPr algn="l">
              <a:defRPr sz="2000" b="1">
                <a:solidFill>
                  <a:srgbClr val="3B82F6"/>
                </a:solidFill>
                <a:latin typeface="Calibri"/>
              </a:defRPr>
            </a:pPr>
            <a:r>
              <a:t>NIST SP 800-53</a:t>
            </a:r>
          </a:p>
        </p:txBody>
      </p:sp>
      <p:sp>
        <p:nvSpPr>
          <p:cNvPr id="5" name="TextBox 4"/>
          <p:cNvSpPr txBox="1"/>
          <p:nvPr/>
        </p:nvSpPr>
        <p:spPr>
          <a:xfrm>
            <a:off x="731520" y="1508760"/>
            <a:ext cx="5029200" cy="1828800"/>
          </a:xfrm>
          <a:prstGeom prst="rect">
            <a:avLst/>
          </a:prstGeom>
          <a:noFill/>
        </p:spPr>
        <p:txBody>
          <a:bodyPr wrap="square">
            <a:spAutoFit/>
          </a:bodyPr>
          <a:lstStyle/>
          <a:p>
            <a:pPr>
              <a:spcBef>
                <a:spcPts val="300"/>
              </a:spcBef>
              <a:defRPr sz="1300">
                <a:solidFill>
                  <a:srgbClr val="8B949E"/>
                </a:solidFill>
                <a:latin typeface="Calibri"/>
              </a:defRPr>
            </a:pPr>
            <a:r>
              <a:t>▸  AC-2: Account Management</a:t>
            </a:r>
          </a:p>
          <a:p>
            <a:pPr>
              <a:spcBef>
                <a:spcPts val="300"/>
              </a:spcBef>
              <a:defRPr sz="1300">
                <a:solidFill>
                  <a:srgbClr val="8B949E"/>
                </a:solidFill>
                <a:latin typeface="Calibri"/>
              </a:defRPr>
            </a:pPr>
            <a:r>
              <a:t>▸  AC-6: Least Privilege</a:t>
            </a:r>
          </a:p>
          <a:p>
            <a:pPr>
              <a:spcBef>
                <a:spcPts val="300"/>
              </a:spcBef>
              <a:defRPr sz="1300">
                <a:solidFill>
                  <a:srgbClr val="8B949E"/>
                </a:solidFill>
                <a:latin typeface="Calibri"/>
              </a:defRPr>
            </a:pPr>
            <a:r>
              <a:t>▸  IA-4: Identifier Management</a:t>
            </a:r>
          </a:p>
        </p:txBody>
      </p:sp>
      <p:sp>
        <p:nvSpPr>
          <p:cNvPr id="6" name="TextBox 5"/>
          <p:cNvSpPr txBox="1"/>
          <p:nvPr/>
        </p:nvSpPr>
        <p:spPr>
          <a:xfrm>
            <a:off x="6400800" y="1097280"/>
            <a:ext cx="5029200" cy="365760"/>
          </a:xfrm>
          <a:prstGeom prst="rect">
            <a:avLst/>
          </a:prstGeom>
          <a:noFill/>
        </p:spPr>
        <p:txBody>
          <a:bodyPr wrap="square">
            <a:spAutoFit/>
          </a:bodyPr>
          <a:lstStyle/>
          <a:p>
            <a:pPr algn="l">
              <a:defRPr sz="2000" b="1">
                <a:solidFill>
                  <a:srgbClr val="E31937"/>
                </a:solidFill>
                <a:latin typeface="Calibri"/>
              </a:defRPr>
            </a:pPr>
            <a:r>
              <a:t>MITRE ATT&amp;CK</a:t>
            </a:r>
          </a:p>
        </p:txBody>
      </p:sp>
      <p:sp>
        <p:nvSpPr>
          <p:cNvPr id="7" name="TextBox 6"/>
          <p:cNvSpPr txBox="1"/>
          <p:nvPr/>
        </p:nvSpPr>
        <p:spPr>
          <a:xfrm>
            <a:off x="6400800" y="1508760"/>
            <a:ext cx="5029200" cy="1828800"/>
          </a:xfrm>
          <a:prstGeom prst="rect">
            <a:avLst/>
          </a:prstGeom>
          <a:noFill/>
        </p:spPr>
        <p:txBody>
          <a:bodyPr wrap="square">
            <a:spAutoFit/>
          </a:bodyPr>
          <a:lstStyle/>
          <a:p>
            <a:pPr>
              <a:spcBef>
                <a:spcPts val="300"/>
              </a:spcBef>
              <a:defRPr sz="1300">
                <a:solidFill>
                  <a:srgbClr val="8B949E"/>
                </a:solidFill>
                <a:latin typeface="Calibri"/>
              </a:defRPr>
            </a:pPr>
            <a:r>
              <a:t>▸  T1078: Valid Accounts</a:t>
            </a:r>
          </a:p>
          <a:p>
            <a:pPr>
              <a:spcBef>
                <a:spcPts val="300"/>
              </a:spcBef>
              <a:defRPr sz="1300">
                <a:solidFill>
                  <a:srgbClr val="8B949E"/>
                </a:solidFill>
                <a:latin typeface="Calibri"/>
              </a:defRPr>
            </a:pPr>
            <a:r>
              <a:t>▸  T1098: Account Manipulation</a:t>
            </a:r>
          </a:p>
          <a:p>
            <a:pPr>
              <a:spcBef>
                <a:spcPts val="300"/>
              </a:spcBef>
              <a:defRPr sz="1300">
                <a:solidFill>
                  <a:srgbClr val="8B949E"/>
                </a:solidFill>
                <a:latin typeface="Calibri"/>
              </a:defRPr>
            </a:pPr>
            <a:r>
              <a:t>▸  T1550: Alternate Auth Material</a:t>
            </a:r>
          </a:p>
        </p:txBody>
      </p:sp>
      <p:sp>
        <p:nvSpPr>
          <p:cNvPr id="8" name="TextBox 7"/>
          <p:cNvSpPr txBox="1"/>
          <p:nvPr/>
        </p:nvSpPr>
        <p:spPr>
          <a:xfrm>
            <a:off x="731520" y="3657600"/>
            <a:ext cx="5029200" cy="365760"/>
          </a:xfrm>
          <a:prstGeom prst="rect">
            <a:avLst/>
          </a:prstGeom>
          <a:noFill/>
        </p:spPr>
        <p:txBody>
          <a:bodyPr wrap="square">
            <a:spAutoFit/>
          </a:bodyPr>
          <a:lstStyle/>
          <a:p>
            <a:pPr algn="l">
              <a:defRPr sz="2000" b="1">
                <a:solidFill>
                  <a:srgbClr val="22C55E"/>
                </a:solidFill>
                <a:latin typeface="Calibri"/>
              </a:defRPr>
            </a:pPr>
            <a:r>
              <a:t>GDPR</a:t>
            </a:r>
          </a:p>
        </p:txBody>
      </p:sp>
      <p:sp>
        <p:nvSpPr>
          <p:cNvPr id="9" name="TextBox 8"/>
          <p:cNvSpPr txBox="1"/>
          <p:nvPr/>
        </p:nvSpPr>
        <p:spPr>
          <a:xfrm>
            <a:off x="731520" y="4069080"/>
            <a:ext cx="5029200" cy="1828800"/>
          </a:xfrm>
          <a:prstGeom prst="rect">
            <a:avLst/>
          </a:prstGeom>
          <a:noFill/>
        </p:spPr>
        <p:txBody>
          <a:bodyPr wrap="square">
            <a:spAutoFit/>
          </a:bodyPr>
          <a:lstStyle/>
          <a:p>
            <a:pPr>
              <a:spcBef>
                <a:spcPts val="300"/>
              </a:spcBef>
              <a:defRPr sz="1300">
                <a:solidFill>
                  <a:srgbClr val="8B949E"/>
                </a:solidFill>
                <a:latin typeface="Calibri"/>
              </a:defRPr>
            </a:pPr>
            <a:r>
              <a:t>▸  Art. 5: Data Minimisation</a:t>
            </a:r>
          </a:p>
          <a:p>
            <a:pPr>
              <a:spcBef>
                <a:spcPts val="300"/>
              </a:spcBef>
              <a:defRPr sz="1300">
                <a:solidFill>
                  <a:srgbClr val="8B949E"/>
                </a:solidFill>
                <a:latin typeface="Calibri"/>
              </a:defRPr>
            </a:pPr>
            <a:r>
              <a:t>▸  Art. 32: Security of Processing</a:t>
            </a:r>
          </a:p>
        </p:txBody>
      </p:sp>
      <p:sp>
        <p:nvSpPr>
          <p:cNvPr id="10" name="TextBox 9"/>
          <p:cNvSpPr txBox="1"/>
          <p:nvPr/>
        </p:nvSpPr>
        <p:spPr>
          <a:xfrm>
            <a:off x="6400800" y="3657600"/>
            <a:ext cx="5029200" cy="365760"/>
          </a:xfrm>
          <a:prstGeom prst="rect">
            <a:avLst/>
          </a:prstGeom>
          <a:noFill/>
        </p:spPr>
        <p:txBody>
          <a:bodyPr wrap="square">
            <a:spAutoFit/>
          </a:bodyPr>
          <a:lstStyle/>
          <a:p>
            <a:pPr algn="l">
              <a:defRPr sz="2000" b="1">
                <a:solidFill>
                  <a:srgbClr val="F97316"/>
                </a:solidFill>
                <a:latin typeface="Calibri"/>
              </a:defRPr>
            </a:pPr>
            <a:r>
              <a:t>CIS Controls</a:t>
            </a:r>
          </a:p>
        </p:txBody>
      </p:sp>
      <p:sp>
        <p:nvSpPr>
          <p:cNvPr id="11" name="TextBox 10"/>
          <p:cNvSpPr txBox="1"/>
          <p:nvPr/>
        </p:nvSpPr>
        <p:spPr>
          <a:xfrm>
            <a:off x="6400800" y="4069080"/>
            <a:ext cx="5029200" cy="1828800"/>
          </a:xfrm>
          <a:prstGeom prst="rect">
            <a:avLst/>
          </a:prstGeom>
          <a:noFill/>
        </p:spPr>
        <p:txBody>
          <a:bodyPr wrap="square">
            <a:spAutoFit/>
          </a:bodyPr>
          <a:lstStyle/>
          <a:p>
            <a:pPr>
              <a:spcBef>
                <a:spcPts val="300"/>
              </a:spcBef>
              <a:defRPr sz="1300">
                <a:solidFill>
                  <a:srgbClr val="8B949E"/>
                </a:solidFill>
                <a:latin typeface="Calibri"/>
              </a:defRPr>
            </a:pPr>
            <a:r>
              <a:t>▸  Control 5: Account Management</a:t>
            </a:r>
          </a:p>
          <a:p>
            <a:pPr>
              <a:spcBef>
                <a:spcPts val="300"/>
              </a:spcBef>
              <a:defRPr sz="1300">
                <a:solidFill>
                  <a:srgbClr val="8B949E"/>
                </a:solidFill>
                <a:latin typeface="Calibri"/>
              </a:defRPr>
            </a:pPr>
            <a:r>
              <a:t>▸  Control 6: Access Control</a:t>
            </a:r>
          </a:p>
        </p:txBody>
      </p:sp>
      <p:sp>
        <p:nvSpPr>
          <p:cNvPr id="12" name="TextBox 11"/>
          <p:cNvSpPr txBox="1"/>
          <p:nvPr/>
        </p:nvSpPr>
        <p:spPr>
          <a:xfrm>
            <a:off x="731520" y="5943600"/>
            <a:ext cx="10058400" cy="274320"/>
          </a:xfrm>
          <a:prstGeom prst="rect">
            <a:avLst/>
          </a:prstGeom>
          <a:noFill/>
        </p:spPr>
        <p:txBody>
          <a:bodyPr wrap="square">
            <a:spAutoFit/>
          </a:bodyPr>
          <a:lstStyle/>
          <a:p>
            <a:pPr algn="l">
              <a:defRPr sz="1200" b="0">
                <a:solidFill>
                  <a:srgbClr val="8B949E"/>
                </a:solidFill>
                <a:latin typeface="Calibri"/>
              </a:defRPr>
            </a:pPr>
            <a:r>
              <a:t>9 detection capabilities auto-mapped to compliance frameworks — judges can click any control to see affected identities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60D"/>
        </a:solidFill>
        <a:effectLst/>
      </p:bgPr>
    </p:bg>
    <p:spTree>
      <p:nvGrpSpPr>
        <p:cNvPr id="1" name=""/>
        <p:cNvGrpSpPr/>
        <p:nvPr/>
      </p:nvGrpSpPr>
      <p:grpSpPr/>
      <p:sp>
        <p:nvSpPr>
          <p:cNvPr id="2" name="Rectangle 1"/>
          <p:cNvSpPr/>
          <p:nvPr/>
        </p:nvSpPr>
        <p:spPr>
          <a:xfrm>
            <a:off x="3200400" y="1371600"/>
            <a:ext cx="54864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554480"/>
            <a:ext cx="9144000" cy="731520"/>
          </a:xfrm>
          <a:prstGeom prst="rect">
            <a:avLst/>
          </a:prstGeom>
          <a:noFill/>
        </p:spPr>
        <p:txBody>
          <a:bodyPr wrap="square">
            <a:spAutoFit/>
          </a:bodyPr>
          <a:lstStyle/>
          <a:p>
            <a:pPr algn="ctr">
              <a:defRPr sz="4000" b="1">
                <a:solidFill>
                  <a:srgbClr val="FFFFFF"/>
                </a:solidFill>
                <a:latin typeface="Calibri"/>
              </a:defRPr>
            </a:pPr>
            <a:r>
              <a:t>IdentitySphere AI</a:t>
            </a:r>
          </a:p>
        </p:txBody>
      </p:sp>
      <p:sp>
        <p:nvSpPr>
          <p:cNvPr id="4" name="Rounded Rectangle 3"/>
          <p:cNvSpPr/>
          <p:nvPr/>
        </p:nvSpPr>
        <p:spPr>
          <a:xfrm>
            <a:off x="1371600" y="2560320"/>
            <a:ext cx="2194560" cy="1005840"/>
          </a:xfrm>
          <a:prstGeom prst="roundRect">
            <a:avLst/>
          </a:prstGeom>
          <a:solidFill>
            <a:srgbClr val="0D111A"/>
          </a:solidFill>
          <a:ln w="19050">
            <a:solidFill>
              <a:srgbClr val="E319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E31937"/>
                </a:solidFill>
                <a:latin typeface="Calibri"/>
              </a:defRPr>
            </a:pPr>
            <a:r>
              <a:t>370</a:t>
            </a:r>
          </a:p>
          <a:p>
            <a:pPr algn="ctr">
              <a:defRPr sz="1000">
                <a:solidFill>
                  <a:srgbClr val="8B949E"/>
                </a:solidFill>
                <a:latin typeface="Calibri"/>
              </a:defRPr>
            </a:pPr>
            <a:r>
              <a:t>Identities</a:t>
            </a:r>
          </a:p>
        </p:txBody>
      </p:sp>
      <p:sp>
        <p:nvSpPr>
          <p:cNvPr id="5" name="Rounded Rectangle 4"/>
          <p:cNvSpPr/>
          <p:nvPr/>
        </p:nvSpPr>
        <p:spPr>
          <a:xfrm>
            <a:off x="3840480" y="2560320"/>
            <a:ext cx="2194560" cy="1005840"/>
          </a:xfrm>
          <a:prstGeom prst="roundRect">
            <a:avLst/>
          </a:prstGeom>
          <a:solidFill>
            <a:srgbClr val="0D11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3B82F6"/>
                </a:solidFill>
                <a:latin typeface="Calibri"/>
              </a:defRPr>
            </a:pPr>
            <a:r>
              <a:t>7</a:t>
            </a:r>
          </a:p>
          <a:p>
            <a:pPr algn="ctr">
              <a:defRPr sz="1000">
                <a:solidFill>
                  <a:srgbClr val="8B949E"/>
                </a:solidFill>
                <a:latin typeface="Calibri"/>
              </a:defRPr>
            </a:pPr>
            <a:r>
              <a:t>Platforms</a:t>
            </a:r>
          </a:p>
        </p:txBody>
      </p:sp>
      <p:sp>
        <p:nvSpPr>
          <p:cNvPr id="6" name="Rounded Rectangle 5"/>
          <p:cNvSpPr/>
          <p:nvPr/>
        </p:nvSpPr>
        <p:spPr>
          <a:xfrm>
            <a:off x="6309360" y="2560320"/>
            <a:ext cx="2194560" cy="1005840"/>
          </a:xfrm>
          <a:prstGeom prst="roundRect">
            <a:avLst/>
          </a:prstGeom>
          <a:solidFill>
            <a:srgbClr val="0D111A"/>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F97316"/>
                </a:solidFill>
                <a:latin typeface="Calibri"/>
              </a:defRPr>
            </a:pPr>
            <a:r>
              <a:t>505</a:t>
            </a:r>
          </a:p>
          <a:p>
            <a:pPr algn="ctr">
              <a:defRPr sz="1000">
                <a:solidFill>
                  <a:srgbClr val="8B949E"/>
                </a:solidFill>
                <a:latin typeface="Calibri"/>
              </a:defRPr>
            </a:pPr>
            <a:r>
              <a:t>Risks Detected</a:t>
            </a:r>
          </a:p>
        </p:txBody>
      </p:sp>
      <p:sp>
        <p:nvSpPr>
          <p:cNvPr id="7" name="Rounded Rectangle 6"/>
          <p:cNvSpPr/>
          <p:nvPr/>
        </p:nvSpPr>
        <p:spPr>
          <a:xfrm>
            <a:off x="8778240" y="2560320"/>
            <a:ext cx="2194560" cy="1005840"/>
          </a:xfrm>
          <a:prstGeom prst="roundRect">
            <a:avLst/>
          </a:prstGeom>
          <a:solidFill>
            <a:srgbClr val="0D111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22C55E"/>
                </a:solidFill>
                <a:latin typeface="Calibri"/>
              </a:defRPr>
            </a:pPr>
            <a:r>
              <a:t>90.1%</a:t>
            </a:r>
          </a:p>
          <a:p>
            <a:pPr algn="ctr">
              <a:defRPr sz="1000">
                <a:solidFill>
                  <a:srgbClr val="8B949E"/>
                </a:solidFill>
                <a:latin typeface="Calibri"/>
              </a:defRPr>
            </a:pPr>
            <a:r>
              <a:t>Alert Reduction</a:t>
            </a:r>
          </a:p>
        </p:txBody>
      </p:sp>
      <p:sp>
        <p:nvSpPr>
          <p:cNvPr id="8" name="TextBox 7"/>
          <p:cNvSpPr txBox="1"/>
          <p:nvPr/>
        </p:nvSpPr>
        <p:spPr>
          <a:xfrm>
            <a:off x="1371600" y="4114800"/>
            <a:ext cx="9144000" cy="731520"/>
          </a:xfrm>
          <a:prstGeom prst="rect">
            <a:avLst/>
          </a:prstGeom>
          <a:noFill/>
        </p:spPr>
        <p:txBody>
          <a:bodyPr wrap="square">
            <a:spAutoFit/>
          </a:bodyPr>
          <a:lstStyle/>
          <a:p>
            <a:pPr algn="ctr">
              <a:defRPr sz="2000" b="1">
                <a:solidFill>
                  <a:srgbClr val="FFFFFF"/>
                </a:solidFill>
                <a:latin typeface="Calibri"/>
              </a:defRPr>
            </a:pPr>
            <a:r>
              <a:t>"Transforming fragmented identity data into</a:t>
            </a:r>
            <a:br/>
            <a:r>
              <a:t>actionable security intelligence through AI-driven</a:t>
            </a:r>
            <a:br/>
            <a:r>
              <a:t>risk detection, privilege analysis, and</a:t>
            </a:r>
            <a:br/>
            <a:r>
              <a:t>explainable remediation."</a:t>
            </a:r>
          </a:p>
        </p:txBody>
      </p:sp>
      <p:sp>
        <p:nvSpPr>
          <p:cNvPr id="9" name="Rectangle 8"/>
          <p:cNvSpPr/>
          <p:nvPr/>
        </p:nvSpPr>
        <p:spPr>
          <a:xfrm>
            <a:off x="4114800" y="5212080"/>
            <a:ext cx="3657600" cy="38100"/>
          </a:xfrm>
          <a:prstGeom prst="rect">
            <a:avLst/>
          </a:prstGeom>
          <a:solidFill>
            <a:srgbClr val="E3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5486400"/>
            <a:ext cx="8229600" cy="457200"/>
          </a:xfrm>
          <a:prstGeom prst="rect">
            <a:avLst/>
          </a:prstGeom>
          <a:noFill/>
        </p:spPr>
        <p:txBody>
          <a:bodyPr wrap="square">
            <a:spAutoFit/>
          </a:bodyPr>
          <a:lstStyle/>
          <a:p>
            <a:pPr algn="ctr">
              <a:defRPr sz="2800" b="1">
                <a:solidFill>
                  <a:srgbClr val="E31937"/>
                </a:solidFill>
                <a:latin typeface="Calibri"/>
              </a:defRPr>
            </a:pPr>
            <a:r>
              <a:t>Thank you  |  Questions?</a:t>
            </a:r>
          </a:p>
        </p:txBody>
      </p:sp>
      <p:sp>
        <p:nvSpPr>
          <p:cNvPr id="11" name="TextBox 10"/>
          <p:cNvSpPr txBox="1"/>
          <p:nvPr/>
        </p:nvSpPr>
        <p:spPr>
          <a:xfrm>
            <a:off x="1828800" y="6035040"/>
            <a:ext cx="8229600" cy="274320"/>
          </a:xfrm>
          <a:prstGeom prst="rect">
            <a:avLst/>
          </a:prstGeom>
          <a:noFill/>
        </p:spPr>
        <p:txBody>
          <a:bodyPr wrap="square">
            <a:spAutoFit/>
          </a:bodyPr>
          <a:lstStyle/>
          <a:p>
            <a:pPr algn="ctr">
              <a:defRPr sz="1300" b="0">
                <a:solidFill>
                  <a:srgbClr val="8B949E"/>
                </a:solidFill>
                <a:latin typeface="Calibri"/>
              </a:defRPr>
            </a:pPr>
            <a:r>
              <a:t>github.com/pradi1626-16/IdentitySphere  |  Pradeep 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